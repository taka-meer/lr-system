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480560"/>
            <a:ext cx="2926080" cy="29260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2439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開発状況報告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配電盤 立会試験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自動議事録生成システム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動作検証・改善結果のご報告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3108960" cy="0"/>
          </a:xfrm>
          <a:prstGeom prst="line">
            <a:avLst/>
          </a:prstGeom>
          <a:noFill/>
          <a:ln w="12700">
            <a:solidFill>
              <a:srgbClr val="4450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97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2026年7月6日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本日のご報告内容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0992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74520" y="1764792"/>
            <a:ext cx="0" cy="731520"/>
          </a:xfrm>
          <a:prstGeom prst="line">
            <a:avLst/>
          </a:prstGeom>
          <a:noFill/>
          <a:ln w="19050">
            <a:solidFill>
              <a:srgbClr val="E1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171907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検証の目的と方法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48840" y="211226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実際の立会試験を想定した音声で、システム全体を通しで動作させて確認しました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9169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874520" y="2971800"/>
            <a:ext cx="0" cy="731520"/>
          </a:xfrm>
          <a:prstGeom prst="line">
            <a:avLst/>
          </a:prstGeom>
          <a:noFill/>
          <a:ln w="19050">
            <a:solidFill>
              <a:srgbClr val="E1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92608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見つかった課題と対応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31927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動作確認の過程で見つかった不具合と、その修正内容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1239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874520" y="4178808"/>
            <a:ext cx="0" cy="731520"/>
          </a:xfrm>
          <a:prstGeom prst="line">
            <a:avLst/>
          </a:prstGeom>
          <a:noFill/>
          <a:ln w="19050">
            <a:solidFill>
              <a:srgbClr val="E1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41330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改善の成果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48840" y="45262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文字起こし精度・議事録の正確性がどれだけ向上したか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21224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3309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874520" y="5385816"/>
            <a:ext cx="0" cy="731520"/>
          </a:xfrm>
          <a:prstGeom prst="line">
            <a:avLst/>
          </a:prstGeom>
          <a:noFill/>
          <a:ln w="19050">
            <a:solidFill>
              <a:srgbClr val="E1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34009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現状の評価と今後の対応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148840" y="573328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実運用に向けて、現在地と残っている課題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背景と目的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本システムについて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工場での立会試験の音声をリアルタイムで文字起こしし、試験終了後にAIが議事録を自動生成するシステムです。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今回の目的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実際の立会試験を想定した模擬音声を用意し、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「録音 → 文字起こし → AIによる議事録生成」という一連の流れを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実際に動かして確認・改善すること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1508760"/>
            <a:ext cx="4709160" cy="3520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178040" y="1783080"/>
            <a:ext cx="640080" cy="640080"/>
          </a:xfrm>
          <a:prstGeom prst="ellipse">
            <a:avLst/>
          </a:prstGeom>
          <a:solidFill>
            <a:srgbClr val="32439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19431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0" y="178308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これまで未実施だったこと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23760" y="26060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実際の音声データでの通し動作確認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文字起こし・AI要約の精度検証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サーバーのメモリ(VRAM)管理の検証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使用するAIエンジンの見直し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検証の進め方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配電盤の立会試験を想定した約9分間の会話シナリオを使い、システムを実際に稼働させて検証しました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606040" y="2743200"/>
            <a:ext cx="256032" cy="0"/>
          </a:xfrm>
          <a:prstGeom prst="line">
            <a:avLst/>
          </a:prstGeom>
          <a:noFill/>
          <a:ln w="254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291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試験シナリオ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配電盤の立会試験を想定した台本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28032" y="2743200"/>
            <a:ext cx="256032" cy="0"/>
          </a:xfrm>
          <a:prstGeom prst="line">
            <a:avLst/>
          </a:prstGeom>
          <a:noFill/>
          <a:ln w="25400">
            <a:solidFill>
              <a:srgbClr val="E1E6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62072" y="214884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9292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6060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0832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71800" y="3291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試験音声の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99232" y="39776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音声合成で当日の音声を再現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050024" y="2743200"/>
            <a:ext cx="256032" cy="0"/>
          </a:xfrm>
          <a:prstGeom prst="line">
            <a:avLst/>
          </a:prstGeom>
          <a:noFill/>
          <a:ln w="25400">
            <a:solidFill>
              <a:srgbClr val="E1E6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4064" y="214884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0128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6060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92824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193792" y="3291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システムへ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投入・稼働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21224" y="39776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実際にシステムを動かす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272016" y="2743200"/>
            <a:ext cx="256032" cy="0"/>
          </a:xfrm>
          <a:prstGeom prst="line">
            <a:avLst/>
          </a:prstGeom>
          <a:noFill/>
          <a:ln w="25400">
            <a:solidFill>
              <a:srgbClr val="E1E6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06056" y="214884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2327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26060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14816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415784" y="3291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議事録の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内容確認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443216" y="39776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生成結果を正解データと照合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528048" y="214884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145268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2606040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036808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9637776" y="3291840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改善・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再検証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665208" y="397764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課題を修正して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再度検証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見つかった課題と対応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実際にシステムを動かしたことで、これまで気づけなかった4つの不具合を発見し、修正しました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文字起こしの精度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音声を区切って処理する部分に不具合があり、認識の誤りが発生していました。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73552"/>
            <a:ext cx="5257800" cy="384048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7355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修正・検証済み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06883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9280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AIによる要約の精度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37960" y="25603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話の途中で状況が変わった場合に、古い内容のまま議事録に残ってしまうことがありました。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3273552"/>
            <a:ext cx="5257800" cy="384048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17" name="Text 13"/>
          <p:cNvSpPr/>
          <p:nvPr/>
        </p:nvSpPr>
        <p:spPr>
          <a:xfrm>
            <a:off x="6537960" y="327355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修正・検証済み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39319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1330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サーバーのメモリ管理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1440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音声認識とAIが同時にメモリを使い続け、より高性能なAIへの切替が困難な状態でした。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5513832"/>
            <a:ext cx="5257800" cy="384048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" y="551383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修正・検証済み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63640" y="39319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9224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297180" cy="2971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41330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使用するAIエンジン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537960" y="48006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より新しく高性能なAIエンジンへの切替を検討・検証しました。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263640" y="5513832"/>
            <a:ext cx="5257800" cy="384048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31" name="Text 25"/>
          <p:cNvSpPr/>
          <p:nvPr/>
        </p:nvSpPr>
        <p:spPr>
          <a:xfrm>
            <a:off x="6537960" y="551383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修正・検証済み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改善の成果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同じ試験音声を使い、修正の前後で結果を比較しました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文字起こしの誤り率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6517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89864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31.6%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1691640" cy="0"/>
          </a:xfrm>
          <a:prstGeom prst="line">
            <a:avLst/>
          </a:prstGeom>
          <a:noFill/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5387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84048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408736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4672" y="484632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誤りがおよそ半分に減少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47288" y="1691640"/>
            <a:ext cx="2606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8745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協議事項の再現率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(議事録の議題)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6517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289864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904488" y="3657600"/>
            <a:ext cx="1691640" cy="0"/>
          </a:xfrm>
          <a:prstGeom prst="line">
            <a:avLst/>
          </a:prstGeom>
          <a:noFill/>
          <a:ln w="12700">
            <a:solidFill>
              <a:srgbClr val="E1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5387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384048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408736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611880" y="484632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※不具合により空になることがあった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4496" y="1691640"/>
            <a:ext cx="2606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9088" y="18745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アクションアイテムの再現率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(対応事項・期限)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9088" y="26517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19088" y="289864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711696" y="3657600"/>
            <a:ext cx="1691640" cy="0"/>
          </a:xfrm>
          <a:prstGeom prst="line">
            <a:avLst/>
          </a:prstGeom>
          <a:noFill/>
          <a:ln w="12700">
            <a:solidFill>
              <a:srgbClr val="E1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5387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384048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408736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419088" y="484632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担当者・期限も正確に記録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61704" y="1691640"/>
            <a:ext cx="2606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226296" y="1874520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状況変化の反映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26296" y="26517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26296" y="2898648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AF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失敗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9518904" y="3657600"/>
            <a:ext cx="1691640" cy="0"/>
          </a:xfrm>
          <a:prstGeom prst="line">
            <a:avLst/>
          </a:prstGeom>
          <a:noFill/>
          <a:ln w="12700">
            <a:solidFill>
              <a:srgbClr val="E1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26296" y="35387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26296" y="384048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改善後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26296" y="408736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9226296" y="4846320"/>
            <a:ext cx="22768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話の途中の状況変化も正しく反映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現状の評価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32439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2763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現在の位置づけ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91640" y="1920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「たたき台(ドラフト)」を自動生成するツール ― 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生成された議事録は、必ず人による確認・修正を前提としています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その理由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29184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文字起こしにまだ約15%程度の誤りが残っている(音声を5秒ごとに機械的に区切る方式に起因)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今回の検証はクリアな合成音声によるもので、実際の工場環境(雑音・複数人の同時発言など)ではまだ検証できていない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AIによる要約は毎回まったく同じ結果にはならず、実行ごとに多少の差が生じる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FFF3E4"/>
          </a:solidFill>
          <a:ln w="12700">
            <a:solidFill>
              <a:srgbClr val="F0D9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5742432"/>
            <a:ext cx="457200" cy="457200"/>
          </a:xfrm>
          <a:prstGeom prst="ellipse">
            <a:avLst/>
          </a:prstGeom>
          <a:solidFill>
            <a:srgbClr val="C97A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58567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562356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要点：精度は大きく前進しましたが、「無人で確定版の議事録を出力する」段階にはまだ至っていません。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残っている課題と今後の対応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1051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59102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音声の区切り方式の見直し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2103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文の途中で区切られることによる認識誤りを減らす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98094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129534"/>
            <a:ext cx="297180" cy="297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907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マイク運用方法の見直し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2735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自社側マイクの装着人数・方法によっては話者の判定を誤る場合がある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41064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15137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299966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0782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実環境音声での検証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444398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工場の雑音・複数人の同時発言など、実際の環境での動作確認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5111496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53218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5470398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52486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通信面の是正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91640" y="56144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AI関連ライブラリが行う外部通信を完全に遮断する設定を追加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32439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372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10241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今回の検証で、システムの信頼性に関わる複数の不具合を発見・修正し、AIエンジンも更新しました</a:t>
            </a:r>
            <a:endParaRPr lang="en-US" sz="16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文字起こし精度・議事録の正確性ともに大きく向上しています</a:t>
            </a:r>
            <a:endParaRPr lang="en-US" sz="16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現状は「ドラフト生成ツール」として活用できる段階で、確定版の運用には追加検証が必要です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次のステップとして、実環境音声での検証と、文字起こし方式のさらなる改善を予定しています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配電盤 立会試験 自動議事録生成システム 開発状況報告</dc:title>
  <dc:subject>PptxGenJS Presentation</dc:subject>
  <dc:creator>開発チーム</dc:creator>
  <cp:lastModifiedBy>開発チーム</cp:lastModifiedBy>
  <cp:revision>1</cp:revision>
  <dcterms:created xsi:type="dcterms:W3CDTF">2026-07-06T11:11:04Z</dcterms:created>
  <dcterms:modified xsi:type="dcterms:W3CDTF">2026-07-06T11:11:04Z</dcterms:modified>
</cp:coreProperties>
</file>