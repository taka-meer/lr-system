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96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1778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265615" y="-1463040"/>
            <a:ext cx="4206240" cy="4206240"/>
          </a:xfrm>
          <a:prstGeom prst="ellipse">
            <a:avLst/>
          </a:prstGeom>
          <a:solidFill>
            <a:srgbClr val="263275"/>
          </a:solidFill>
          <a:ln/>
        </p:spPr>
        <p:txBody>
          <a:bodyPr/>
          <a:lstStyle/>
          <a:p>
            <a:endParaRPr lang="ja-JP" altLang="en-US"/>
          </a:p>
        </p:txBody>
      </p:sp>
      <p:sp>
        <p:nvSpPr>
          <p:cNvPr id="3" name="Shape 1"/>
          <p:cNvSpPr/>
          <p:nvPr/>
        </p:nvSpPr>
        <p:spPr>
          <a:xfrm>
            <a:off x="10728655" y="4480560"/>
            <a:ext cx="2926080" cy="2926080"/>
          </a:xfrm>
          <a:prstGeom prst="ellipse">
            <a:avLst/>
          </a:prstGeom>
          <a:solidFill>
            <a:srgbClr val="263275"/>
          </a:solidFill>
          <a:ln/>
        </p:spPr>
        <p:txBody>
          <a:bodyPr/>
          <a:lstStyle/>
          <a:p>
            <a:endParaRPr lang="ja-JP" altLang="en-US"/>
          </a:p>
        </p:txBody>
      </p:sp>
      <p:sp>
        <p:nvSpPr>
          <p:cNvPr id="4" name="Shape 2"/>
          <p:cNvSpPr/>
          <p:nvPr/>
        </p:nvSpPr>
        <p:spPr>
          <a:xfrm>
            <a:off x="822960" y="777240"/>
            <a:ext cx="822960" cy="822960"/>
          </a:xfrm>
          <a:prstGeom prst="ellipse">
            <a:avLst/>
          </a:prstGeom>
          <a:solidFill>
            <a:srgbClr val="324391"/>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028700" y="982980"/>
            <a:ext cx="411480" cy="411480"/>
          </a:xfrm>
          <a:prstGeom prst="rect">
            <a:avLst/>
          </a:prstGeom>
        </p:spPr>
      </p:pic>
      <p:sp>
        <p:nvSpPr>
          <p:cNvPr id="6" name="Text 3"/>
          <p:cNvSpPr/>
          <p:nvPr/>
        </p:nvSpPr>
        <p:spPr>
          <a:xfrm>
            <a:off x="822960" y="1874520"/>
            <a:ext cx="7315200" cy="457200"/>
          </a:xfrm>
          <a:prstGeom prst="rect">
            <a:avLst/>
          </a:prstGeom>
          <a:noFill/>
          <a:ln/>
        </p:spPr>
        <p:txBody>
          <a:bodyPr wrap="square" rtlCol="0" anchor="ctr"/>
          <a:lstStyle/>
          <a:p>
            <a:pPr marL="0" indent="0">
              <a:buNone/>
            </a:pPr>
            <a:r>
              <a:rPr lang="en-US" sz="1600" b="1" kern="0" spc="300" dirty="0">
                <a:solidFill>
                  <a:srgbClr val="CADCFC"/>
                </a:solidFill>
                <a:latin typeface="Calibri" pitchFamily="34" charset="0"/>
                <a:ea typeface="Calibri" pitchFamily="34" charset="-122"/>
                <a:cs typeface="Calibri" pitchFamily="34" charset="-120"/>
              </a:rPr>
              <a:t>システムのご紹介</a:t>
            </a:r>
            <a:endParaRPr lang="en-US" sz="1600" dirty="0"/>
          </a:p>
        </p:txBody>
      </p:sp>
      <p:sp>
        <p:nvSpPr>
          <p:cNvPr id="7" name="Text 4"/>
          <p:cNvSpPr/>
          <p:nvPr/>
        </p:nvSpPr>
        <p:spPr>
          <a:xfrm>
            <a:off x="777240" y="2286000"/>
            <a:ext cx="9601200" cy="2103120"/>
          </a:xfrm>
          <a:prstGeom prst="rect">
            <a:avLst/>
          </a:prstGeom>
          <a:noFill/>
          <a:ln/>
        </p:spPr>
        <p:txBody>
          <a:bodyPr wrap="square" lIns="0" tIns="0" rIns="0" bIns="0" rtlCol="0" anchor="ctr"/>
          <a:lstStyle/>
          <a:p>
            <a:pPr marL="0" indent="0">
              <a:lnSpc>
                <a:spcPct val="115000"/>
              </a:lnSpc>
              <a:buNone/>
            </a:pPr>
            <a:r>
              <a:rPr lang="en-US" sz="4000" b="1" dirty="0">
                <a:solidFill>
                  <a:srgbClr val="FFFFFF"/>
                </a:solidFill>
                <a:latin typeface="Georgia" pitchFamily="34" charset="0"/>
                <a:ea typeface="Georgia" pitchFamily="34" charset="-122"/>
                <a:cs typeface="Georgia" pitchFamily="34" charset="-120"/>
              </a:rPr>
              <a:t>配電盤 立会試験</a:t>
            </a:r>
            <a:endParaRPr lang="en-US" sz="4000" dirty="0"/>
          </a:p>
          <a:p>
            <a:pPr marL="0" indent="0">
              <a:lnSpc>
                <a:spcPct val="115000"/>
              </a:lnSpc>
              <a:buNone/>
            </a:pPr>
            <a:r>
              <a:rPr lang="en-US" sz="4000" b="1" dirty="0">
                <a:solidFill>
                  <a:srgbClr val="FFFFFF"/>
                </a:solidFill>
                <a:latin typeface="Georgia" pitchFamily="34" charset="0"/>
                <a:ea typeface="Georgia" pitchFamily="34" charset="-122"/>
                <a:cs typeface="Georgia" pitchFamily="34" charset="-120"/>
              </a:rPr>
              <a:t>自動議事録生成システム</a:t>
            </a:r>
            <a:endParaRPr lang="en-US" sz="4000" dirty="0"/>
          </a:p>
        </p:txBody>
      </p:sp>
      <p:sp>
        <p:nvSpPr>
          <p:cNvPr id="8" name="Text 5"/>
          <p:cNvSpPr/>
          <p:nvPr/>
        </p:nvSpPr>
        <p:spPr>
          <a:xfrm>
            <a:off x="822960" y="4343400"/>
            <a:ext cx="8229600" cy="548640"/>
          </a:xfrm>
          <a:prstGeom prst="rect">
            <a:avLst/>
          </a:prstGeom>
          <a:noFill/>
          <a:ln/>
        </p:spPr>
        <p:txBody>
          <a:bodyPr wrap="square" rtlCol="0" anchor="ctr"/>
          <a:lstStyle/>
          <a:p>
            <a:pPr marL="0" indent="0">
              <a:buNone/>
            </a:pPr>
            <a:r>
              <a:rPr lang="en-US" sz="2000" dirty="0">
                <a:solidFill>
                  <a:srgbClr val="CADCFC"/>
                </a:solidFill>
                <a:latin typeface="Calibri" pitchFamily="34" charset="0"/>
                <a:ea typeface="Calibri" pitchFamily="34" charset="-122"/>
                <a:cs typeface="Calibri" pitchFamily="34" charset="-120"/>
              </a:rPr>
              <a:t>仕組み・使い方と、実際の動作結果のご紹介</a:t>
            </a:r>
            <a:endParaRPr lang="en-US" sz="2000" dirty="0"/>
          </a:p>
        </p:txBody>
      </p:sp>
      <p:sp>
        <p:nvSpPr>
          <p:cNvPr id="9" name="Shape 6"/>
          <p:cNvSpPr/>
          <p:nvPr/>
        </p:nvSpPr>
        <p:spPr>
          <a:xfrm>
            <a:off x="822960" y="5806440"/>
            <a:ext cx="3108960" cy="0"/>
          </a:xfrm>
          <a:prstGeom prst="line">
            <a:avLst/>
          </a:prstGeom>
          <a:noFill/>
          <a:ln w="12700">
            <a:solidFill>
              <a:srgbClr val="44508F"/>
            </a:solidFill>
            <a:prstDash val="solid"/>
          </a:ln>
        </p:spPr>
        <p:txBody>
          <a:bodyPr/>
          <a:lstStyle/>
          <a:p>
            <a:endParaRPr lang="ja-JP" altLang="en-US"/>
          </a:p>
        </p:txBody>
      </p:sp>
      <p:sp>
        <p:nvSpPr>
          <p:cNvPr id="10" name="Text 7"/>
          <p:cNvSpPr/>
          <p:nvPr/>
        </p:nvSpPr>
        <p:spPr>
          <a:xfrm>
            <a:off x="822960" y="5897880"/>
            <a:ext cx="3657600" cy="365760"/>
          </a:xfrm>
          <a:prstGeom prst="rect">
            <a:avLst/>
          </a:prstGeom>
          <a:noFill/>
          <a:ln/>
        </p:spPr>
        <p:txBody>
          <a:bodyPr wrap="square" rtlCol="0" anchor="ctr"/>
          <a:lstStyle/>
          <a:p>
            <a:pPr marL="0" indent="0">
              <a:buNone/>
            </a:pPr>
            <a:r>
              <a:rPr lang="en-US" sz="1300" dirty="0">
                <a:solidFill>
                  <a:srgbClr val="9FB0DE"/>
                </a:solidFill>
                <a:latin typeface="Calibri" pitchFamily="34" charset="0"/>
                <a:ea typeface="Calibri" pitchFamily="34" charset="-122"/>
                <a:cs typeface="Calibri" pitchFamily="34" charset="-120"/>
              </a:rPr>
              <a:t>2026年7月6日</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何のためのシステムか</a:t>
            </a:r>
            <a:endParaRPr lang="en-US" sz="3000" dirty="0"/>
          </a:p>
        </p:txBody>
      </p:sp>
      <p:sp>
        <p:nvSpPr>
          <p:cNvPr id="3" name="Text 1"/>
          <p:cNvSpPr/>
          <p:nvPr/>
        </p:nvSpPr>
        <p:spPr>
          <a:xfrm>
            <a:off x="640080" y="1371600"/>
            <a:ext cx="51206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これまでの課題</a:t>
            </a:r>
            <a:endParaRPr lang="en-US" sz="1500" dirty="0"/>
          </a:p>
        </p:txBody>
      </p:sp>
      <p:sp>
        <p:nvSpPr>
          <p:cNvPr id="4" name="Shape 2"/>
          <p:cNvSpPr/>
          <p:nvPr/>
        </p:nvSpPr>
        <p:spPr>
          <a:xfrm>
            <a:off x="640080" y="1828800"/>
            <a:ext cx="5120640" cy="137160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5" name="Shape 3"/>
          <p:cNvSpPr/>
          <p:nvPr/>
        </p:nvSpPr>
        <p:spPr>
          <a:xfrm>
            <a:off x="868680" y="2029968"/>
            <a:ext cx="548640" cy="548640"/>
          </a:xfrm>
          <a:prstGeom prst="ellipse">
            <a:avLst/>
          </a:prstGeom>
          <a:solidFill>
            <a:srgbClr val="C97A45"/>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2167128"/>
            <a:ext cx="274320" cy="274320"/>
          </a:xfrm>
          <a:prstGeom prst="rect">
            <a:avLst/>
          </a:prstGeom>
        </p:spPr>
      </p:pic>
      <p:sp>
        <p:nvSpPr>
          <p:cNvPr id="7" name="Text 4"/>
          <p:cNvSpPr/>
          <p:nvPr/>
        </p:nvSpPr>
        <p:spPr>
          <a:xfrm>
            <a:off x="1600200" y="1993392"/>
            <a:ext cx="40233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議事録の作成に時間がかかる</a:t>
            </a:r>
            <a:endParaRPr lang="en-US" sz="1350" dirty="0"/>
          </a:p>
        </p:txBody>
      </p:sp>
      <p:sp>
        <p:nvSpPr>
          <p:cNvPr id="8" name="Text 5"/>
          <p:cNvSpPr/>
          <p:nvPr/>
        </p:nvSpPr>
        <p:spPr>
          <a:xfrm>
            <a:off x="1600200" y="2377440"/>
            <a:ext cx="4023360" cy="731520"/>
          </a:xfrm>
          <a:prstGeom prst="rect">
            <a:avLst/>
          </a:prstGeom>
          <a:noFill/>
          <a:ln/>
        </p:spPr>
        <p:txBody>
          <a:bodyPr wrap="square" rtlCol="0" anchor="ctr"/>
          <a:lstStyle/>
          <a:p>
            <a:pPr marL="0" indent="0">
              <a:lnSpc>
                <a:spcPct val="120000"/>
              </a:lnSpc>
              <a:buNone/>
            </a:pPr>
            <a:r>
              <a:rPr lang="en-US" sz="1150" dirty="0">
                <a:solidFill>
                  <a:srgbClr val="6B7690"/>
                </a:solidFill>
                <a:latin typeface="Calibri" pitchFamily="34" charset="0"/>
                <a:ea typeface="Calibri" pitchFamily="34" charset="-122"/>
                <a:cs typeface="Calibri" pitchFamily="34" charset="-120"/>
              </a:rPr>
              <a:t>試験後、録音を聞き直しながら手作業で清書する必要があった</a:t>
            </a:r>
            <a:endParaRPr lang="en-US" sz="1150" dirty="0"/>
          </a:p>
        </p:txBody>
      </p:sp>
      <p:sp>
        <p:nvSpPr>
          <p:cNvPr id="9" name="Shape 6"/>
          <p:cNvSpPr/>
          <p:nvPr/>
        </p:nvSpPr>
        <p:spPr>
          <a:xfrm>
            <a:off x="640080" y="3429000"/>
            <a:ext cx="5120640" cy="137160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0" name="Shape 7"/>
          <p:cNvSpPr/>
          <p:nvPr/>
        </p:nvSpPr>
        <p:spPr>
          <a:xfrm>
            <a:off x="868680" y="3630168"/>
            <a:ext cx="548640" cy="548640"/>
          </a:xfrm>
          <a:prstGeom prst="ellipse">
            <a:avLst/>
          </a:prstGeom>
          <a:solidFill>
            <a:srgbClr val="C97A45"/>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1005840" y="3767328"/>
            <a:ext cx="274320" cy="274320"/>
          </a:xfrm>
          <a:prstGeom prst="rect">
            <a:avLst/>
          </a:prstGeom>
        </p:spPr>
      </p:pic>
      <p:sp>
        <p:nvSpPr>
          <p:cNvPr id="12" name="Text 8"/>
          <p:cNvSpPr/>
          <p:nvPr/>
        </p:nvSpPr>
        <p:spPr>
          <a:xfrm>
            <a:off x="1600200" y="3593592"/>
            <a:ext cx="40233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記録漏れ・認識違いのリスク</a:t>
            </a:r>
            <a:endParaRPr lang="en-US" sz="1350" dirty="0"/>
          </a:p>
        </p:txBody>
      </p:sp>
      <p:sp>
        <p:nvSpPr>
          <p:cNvPr id="13" name="Text 9"/>
          <p:cNvSpPr/>
          <p:nvPr/>
        </p:nvSpPr>
        <p:spPr>
          <a:xfrm>
            <a:off x="1600200" y="3977640"/>
            <a:ext cx="4023360" cy="731520"/>
          </a:xfrm>
          <a:prstGeom prst="rect">
            <a:avLst/>
          </a:prstGeom>
          <a:noFill/>
          <a:ln/>
        </p:spPr>
        <p:txBody>
          <a:bodyPr wrap="square" rtlCol="0" anchor="ctr"/>
          <a:lstStyle/>
          <a:p>
            <a:pPr marL="0" indent="0">
              <a:lnSpc>
                <a:spcPct val="120000"/>
              </a:lnSpc>
              <a:buNone/>
            </a:pPr>
            <a:r>
              <a:rPr lang="en-US" sz="1150" dirty="0">
                <a:solidFill>
                  <a:srgbClr val="6B7690"/>
                </a:solidFill>
                <a:latin typeface="Calibri" pitchFamily="34" charset="0"/>
                <a:ea typeface="Calibri" pitchFamily="34" charset="-122"/>
                <a:cs typeface="Calibri" pitchFamily="34" charset="-120"/>
              </a:rPr>
              <a:t>聞き取り・要約を人手で行うため、抜け漏れが起こりうる</a:t>
            </a:r>
            <a:endParaRPr lang="en-US" sz="1150" dirty="0"/>
          </a:p>
        </p:txBody>
      </p:sp>
      <p:sp>
        <p:nvSpPr>
          <p:cNvPr id="14" name="Shape 10"/>
          <p:cNvSpPr/>
          <p:nvPr/>
        </p:nvSpPr>
        <p:spPr>
          <a:xfrm>
            <a:off x="6126480" y="1828800"/>
            <a:ext cx="5440680" cy="3429000"/>
          </a:xfrm>
          <a:prstGeom prst="rect">
            <a:avLst/>
          </a:prstGeom>
          <a:solidFill>
            <a:srgbClr val="1E2761"/>
          </a:solidFill>
          <a:ln/>
        </p:spPr>
        <p:txBody>
          <a:bodyPr/>
          <a:lstStyle/>
          <a:p>
            <a:endParaRPr lang="ja-JP" altLang="en-US"/>
          </a:p>
        </p:txBody>
      </p:sp>
      <p:sp>
        <p:nvSpPr>
          <p:cNvPr id="15" name="Shape 11"/>
          <p:cNvSpPr/>
          <p:nvPr/>
        </p:nvSpPr>
        <p:spPr>
          <a:xfrm>
            <a:off x="6355080" y="2103120"/>
            <a:ext cx="640080" cy="640080"/>
          </a:xfrm>
          <a:prstGeom prst="ellipse">
            <a:avLst/>
          </a:prstGeom>
          <a:solidFill>
            <a:srgbClr val="324391"/>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6515100" y="2263140"/>
            <a:ext cx="320040" cy="320040"/>
          </a:xfrm>
          <a:prstGeom prst="rect">
            <a:avLst/>
          </a:prstGeom>
        </p:spPr>
      </p:pic>
      <p:sp>
        <p:nvSpPr>
          <p:cNvPr id="17" name="Text 12"/>
          <p:cNvSpPr/>
          <p:nvPr/>
        </p:nvSpPr>
        <p:spPr>
          <a:xfrm>
            <a:off x="7178040" y="2103120"/>
            <a:ext cx="4206240" cy="64008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このシステムでの解決</a:t>
            </a:r>
            <a:endParaRPr lang="en-US" sz="1450" dirty="0"/>
          </a:p>
        </p:txBody>
      </p:sp>
      <p:sp>
        <p:nvSpPr>
          <p:cNvPr id="18" name="Text 13"/>
          <p:cNvSpPr/>
          <p:nvPr/>
        </p:nvSpPr>
        <p:spPr>
          <a:xfrm>
            <a:off x="6400800" y="2880360"/>
            <a:ext cx="4937760" cy="2286000"/>
          </a:xfrm>
          <a:prstGeom prst="rect">
            <a:avLst/>
          </a:prstGeom>
          <a:noFill/>
          <a:ln/>
        </p:spPr>
        <p:txBody>
          <a:bodyPr wrap="square" rtlCol="0" anchor="ctr"/>
          <a:lstStyle/>
          <a:p>
            <a:pPr marL="342900" indent="-342900">
              <a:lnSpc>
                <a:spcPct val="125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録音しながらリアルタイムで文字起こし</a:t>
            </a:r>
            <a:endParaRPr lang="en-US" sz="1350" dirty="0"/>
          </a:p>
          <a:p>
            <a:pPr marL="342900" indent="-342900">
              <a:lnSpc>
                <a:spcPct val="125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試験終了後、AIがボタン一つで議事録を自動生成</a:t>
            </a:r>
            <a:endParaRPr lang="en-US" sz="1350" dirty="0"/>
          </a:p>
          <a:p>
            <a:pPr marL="342900" indent="-342900">
              <a:lnSpc>
                <a:spcPct val="125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設計上はローカル処理を基本方針とし、試験内容を外部サーバーへ送信しない構成</a:t>
            </a:r>
            <a:endParaRPr lang="en-US" sz="1350" dirty="0"/>
          </a:p>
          <a:p>
            <a:pPr marL="342900" indent="-342900">
              <a:lnSpc>
                <a:spcPct val="125000"/>
              </a:lnSpc>
              <a:buSzPct val="100000"/>
              <a:buChar char="•"/>
            </a:pPr>
            <a:r>
              <a:rPr lang="en-US" sz="1350" dirty="0">
                <a:solidFill>
                  <a:srgbClr val="CADCFC"/>
                </a:solidFill>
                <a:latin typeface="Calibri" pitchFamily="34" charset="0"/>
                <a:ea typeface="Calibri" pitchFamily="34" charset="-122"/>
                <a:cs typeface="Calibri" pitchFamily="34" charset="-120"/>
              </a:rPr>
              <a:t>Word形式でそのまま配布・保管が可能</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システムの仕組み</a:t>
            </a:r>
            <a:endParaRPr lang="en-US" sz="3000" dirty="0"/>
          </a:p>
        </p:txBody>
      </p:sp>
      <p:sp>
        <p:nvSpPr>
          <p:cNvPr id="3" name="Text 1"/>
          <p:cNvSpPr/>
          <p:nvPr/>
        </p:nvSpPr>
        <p:spPr>
          <a:xfrm>
            <a:off x="640080" y="1097280"/>
            <a:ext cx="10698480" cy="365760"/>
          </a:xfrm>
          <a:prstGeom prst="rect">
            <a:avLst/>
          </a:prstGeom>
          <a:noFill/>
          <a:ln/>
        </p:spPr>
        <p:txBody>
          <a:bodyPr wrap="square" rtlCol="0" anchor="ctr"/>
          <a:lstStyle/>
          <a:p>
            <a:pPr marL="0" indent="0">
              <a:buNone/>
            </a:pPr>
            <a:r>
              <a:rPr lang="en-US" sz="1350" dirty="0">
                <a:solidFill>
                  <a:srgbClr val="6B7690"/>
                </a:solidFill>
                <a:latin typeface="Calibri" pitchFamily="34" charset="0"/>
                <a:ea typeface="Calibri" pitchFamily="34" charset="-122"/>
                <a:cs typeface="Calibri" pitchFamily="34" charset="-120"/>
              </a:rPr>
              <a:t>2系統のマイクで録音し、リアルタイム文字起こしと試験後のAI要約を組み合わせて議事録を作成します</a:t>
            </a:r>
            <a:endParaRPr lang="en-US" sz="1350" dirty="0"/>
          </a:p>
        </p:txBody>
      </p:sp>
      <p:sp>
        <p:nvSpPr>
          <p:cNvPr id="4" name="Shape 2"/>
          <p:cNvSpPr/>
          <p:nvPr/>
        </p:nvSpPr>
        <p:spPr>
          <a:xfrm>
            <a:off x="2606040" y="2560320"/>
            <a:ext cx="256032" cy="0"/>
          </a:xfrm>
          <a:prstGeom prst="line">
            <a:avLst/>
          </a:prstGeom>
          <a:noFill/>
          <a:ln w="25400">
            <a:solidFill>
              <a:srgbClr val="E1E6F2"/>
            </a:solidFill>
            <a:prstDash val="solid"/>
          </a:ln>
        </p:spPr>
        <p:txBody>
          <a:bodyPr/>
          <a:lstStyle/>
          <a:p>
            <a:endParaRPr lang="ja-JP" altLang="en-US"/>
          </a:p>
        </p:txBody>
      </p:sp>
      <p:sp>
        <p:nvSpPr>
          <p:cNvPr id="5" name="Shape 3"/>
          <p:cNvSpPr/>
          <p:nvPr/>
        </p:nvSpPr>
        <p:spPr>
          <a:xfrm>
            <a:off x="640080" y="1965960"/>
            <a:ext cx="1965960" cy="30632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6" name="Shape 4"/>
          <p:cNvSpPr/>
          <p:nvPr/>
        </p:nvSpPr>
        <p:spPr>
          <a:xfrm>
            <a:off x="1257300" y="2240280"/>
            <a:ext cx="731520" cy="731520"/>
          </a:xfrm>
          <a:prstGeom prst="ellipse">
            <a:avLst/>
          </a:prstGeom>
          <a:solidFill>
            <a:srgbClr val="1E276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440180" y="2423160"/>
            <a:ext cx="365760" cy="365760"/>
          </a:xfrm>
          <a:prstGeom prst="rect">
            <a:avLst/>
          </a:prstGeom>
        </p:spPr>
      </p:pic>
      <p:sp>
        <p:nvSpPr>
          <p:cNvPr id="8" name="Text 5"/>
          <p:cNvSpPr/>
          <p:nvPr/>
        </p:nvSpPr>
        <p:spPr>
          <a:xfrm>
            <a:off x="2148840" y="2075688"/>
            <a:ext cx="365760" cy="365760"/>
          </a:xfrm>
          <a:prstGeom prst="rect">
            <a:avLst/>
          </a:prstGeom>
          <a:noFill/>
          <a:ln/>
        </p:spPr>
        <p:txBody>
          <a:bodyPr wrap="square" rtlCol="0" anchor="ctr"/>
          <a:lstStyle/>
          <a:p>
            <a:pPr marL="0" indent="0" algn="r">
              <a:buNone/>
            </a:pPr>
            <a:r>
              <a:rPr lang="en-US" sz="1500" b="1" dirty="0">
                <a:solidFill>
                  <a:srgbClr val="CADCFC"/>
                </a:solidFill>
                <a:latin typeface="Georgia" pitchFamily="34" charset="0"/>
                <a:ea typeface="Georgia" pitchFamily="34" charset="-122"/>
                <a:cs typeface="Georgia" pitchFamily="34" charset="-120"/>
              </a:rPr>
              <a:t>1</a:t>
            </a:r>
            <a:endParaRPr lang="en-US" sz="1500" dirty="0"/>
          </a:p>
        </p:txBody>
      </p:sp>
      <p:sp>
        <p:nvSpPr>
          <p:cNvPr id="9" name="Text 6"/>
          <p:cNvSpPr/>
          <p:nvPr/>
        </p:nvSpPr>
        <p:spPr>
          <a:xfrm>
            <a:off x="731520" y="3108960"/>
            <a:ext cx="1783080" cy="822960"/>
          </a:xfrm>
          <a:prstGeom prst="rect">
            <a:avLst/>
          </a:prstGeom>
          <a:noFill/>
          <a:ln/>
        </p:spPr>
        <p:txBody>
          <a:bodyPr wrap="square" rtlCol="0" anchor="ctr"/>
          <a:lstStyle/>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内蔵マイクで</a:t>
            </a:r>
            <a:endParaRPr lang="en-US" sz="1300" dirty="0"/>
          </a:p>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両者を録音</a:t>
            </a:r>
            <a:endParaRPr lang="en-US" sz="1300" dirty="0"/>
          </a:p>
        </p:txBody>
      </p:sp>
      <p:sp>
        <p:nvSpPr>
          <p:cNvPr id="10" name="Text 7"/>
          <p:cNvSpPr/>
          <p:nvPr/>
        </p:nvSpPr>
        <p:spPr>
          <a:xfrm>
            <a:off x="777240" y="4023360"/>
            <a:ext cx="1691640" cy="914400"/>
          </a:xfrm>
          <a:prstGeom prst="rect">
            <a:avLst/>
          </a:prstGeom>
          <a:noFill/>
          <a:ln/>
        </p:spPr>
        <p:txBody>
          <a:bodyPr wrap="square" rtlCol="0" anchor="ctr"/>
          <a:lstStyle/>
          <a:p>
            <a:pPr marL="0" indent="0" algn="ctr">
              <a:lnSpc>
                <a:spcPct val="120000"/>
              </a:lnSpc>
              <a:buNone/>
            </a:pPr>
            <a:r>
              <a:rPr lang="en-US" sz="1050" dirty="0" err="1">
                <a:solidFill>
                  <a:srgbClr val="6B7690"/>
                </a:solidFill>
                <a:latin typeface="Calibri" pitchFamily="34" charset="0"/>
                <a:ea typeface="Calibri" pitchFamily="34" charset="-122"/>
                <a:cs typeface="Calibri" pitchFamily="34" charset="-120"/>
              </a:rPr>
              <a:t>全体の音声を収録</a:t>
            </a:r>
            <a:endParaRPr lang="en-US" sz="1050" dirty="0"/>
          </a:p>
        </p:txBody>
      </p:sp>
      <p:sp>
        <p:nvSpPr>
          <p:cNvPr id="11" name="Shape 8"/>
          <p:cNvSpPr/>
          <p:nvPr/>
        </p:nvSpPr>
        <p:spPr>
          <a:xfrm>
            <a:off x="4828032" y="2560320"/>
            <a:ext cx="256032" cy="0"/>
          </a:xfrm>
          <a:prstGeom prst="line">
            <a:avLst/>
          </a:prstGeom>
          <a:noFill/>
          <a:ln w="25400">
            <a:solidFill>
              <a:srgbClr val="E1E6F2"/>
            </a:solidFill>
            <a:prstDash val="solid"/>
          </a:ln>
        </p:spPr>
        <p:txBody>
          <a:bodyPr/>
          <a:lstStyle/>
          <a:p>
            <a:endParaRPr lang="ja-JP" altLang="en-US"/>
          </a:p>
        </p:txBody>
      </p:sp>
      <p:sp>
        <p:nvSpPr>
          <p:cNvPr id="12" name="Shape 9"/>
          <p:cNvSpPr/>
          <p:nvPr/>
        </p:nvSpPr>
        <p:spPr>
          <a:xfrm>
            <a:off x="2862072" y="1965960"/>
            <a:ext cx="1965960" cy="30632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3" name="Shape 10"/>
          <p:cNvSpPr/>
          <p:nvPr/>
        </p:nvSpPr>
        <p:spPr>
          <a:xfrm>
            <a:off x="3479292" y="2240280"/>
            <a:ext cx="731520" cy="731520"/>
          </a:xfrm>
          <a:prstGeom prst="ellipse">
            <a:avLst/>
          </a:prstGeom>
          <a:solidFill>
            <a:srgbClr val="1E2761"/>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3662172" y="2423160"/>
            <a:ext cx="365760" cy="365760"/>
          </a:xfrm>
          <a:prstGeom prst="rect">
            <a:avLst/>
          </a:prstGeom>
        </p:spPr>
      </p:pic>
      <p:sp>
        <p:nvSpPr>
          <p:cNvPr id="15" name="Text 11"/>
          <p:cNvSpPr/>
          <p:nvPr/>
        </p:nvSpPr>
        <p:spPr>
          <a:xfrm>
            <a:off x="4370832" y="2075688"/>
            <a:ext cx="365760" cy="365760"/>
          </a:xfrm>
          <a:prstGeom prst="rect">
            <a:avLst/>
          </a:prstGeom>
          <a:noFill/>
          <a:ln/>
        </p:spPr>
        <p:txBody>
          <a:bodyPr wrap="square" rtlCol="0" anchor="ctr"/>
          <a:lstStyle/>
          <a:p>
            <a:pPr marL="0" indent="0" algn="r">
              <a:buNone/>
            </a:pPr>
            <a:r>
              <a:rPr lang="en-US" sz="1500" b="1" dirty="0">
                <a:solidFill>
                  <a:srgbClr val="CADCFC"/>
                </a:solidFill>
                <a:latin typeface="Georgia" pitchFamily="34" charset="0"/>
                <a:ea typeface="Georgia" pitchFamily="34" charset="-122"/>
                <a:cs typeface="Georgia" pitchFamily="34" charset="-120"/>
              </a:rPr>
              <a:t>2</a:t>
            </a:r>
            <a:endParaRPr lang="en-US" sz="1500" dirty="0"/>
          </a:p>
        </p:txBody>
      </p:sp>
      <p:sp>
        <p:nvSpPr>
          <p:cNvPr id="16" name="Text 12"/>
          <p:cNvSpPr/>
          <p:nvPr/>
        </p:nvSpPr>
        <p:spPr>
          <a:xfrm>
            <a:off x="2953512" y="3108960"/>
            <a:ext cx="1783080" cy="822960"/>
          </a:xfrm>
          <a:prstGeom prst="rect">
            <a:avLst/>
          </a:prstGeom>
          <a:noFill/>
          <a:ln/>
        </p:spPr>
        <p:txBody>
          <a:bodyPr wrap="square" rtlCol="0" anchor="ctr"/>
          <a:lstStyle/>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BTイヤホンで</a:t>
            </a:r>
            <a:endParaRPr lang="en-US" sz="1300" dirty="0"/>
          </a:p>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自社側を録音</a:t>
            </a:r>
            <a:endParaRPr lang="en-US" sz="1300" dirty="0"/>
          </a:p>
        </p:txBody>
      </p:sp>
      <p:sp>
        <p:nvSpPr>
          <p:cNvPr id="17" name="Text 13"/>
          <p:cNvSpPr/>
          <p:nvPr/>
        </p:nvSpPr>
        <p:spPr>
          <a:xfrm>
            <a:off x="2999232" y="4023360"/>
            <a:ext cx="1691640" cy="914400"/>
          </a:xfrm>
          <a:prstGeom prst="rect">
            <a:avLst/>
          </a:prstGeom>
          <a:noFill/>
          <a:ln/>
        </p:spPr>
        <p:txBody>
          <a:bodyPr wrap="square" rtlCol="0" anchor="ctr"/>
          <a:lstStyle/>
          <a:p>
            <a:pPr marL="0" indent="0" algn="ctr">
              <a:lnSpc>
                <a:spcPct val="120000"/>
              </a:lnSpc>
              <a:buNone/>
            </a:pPr>
            <a:r>
              <a:rPr lang="en-US" sz="1050" dirty="0">
                <a:solidFill>
                  <a:srgbClr val="6B7690"/>
                </a:solidFill>
                <a:latin typeface="Calibri" pitchFamily="34" charset="0"/>
                <a:ea typeface="Calibri" pitchFamily="34" charset="-122"/>
                <a:cs typeface="Calibri" pitchFamily="34" charset="-120"/>
              </a:rPr>
              <a:t>話者判定用に自社側の声量を検知</a:t>
            </a:r>
            <a:endParaRPr lang="en-US" sz="1050" dirty="0"/>
          </a:p>
        </p:txBody>
      </p:sp>
      <p:sp>
        <p:nvSpPr>
          <p:cNvPr id="18" name="Shape 14"/>
          <p:cNvSpPr/>
          <p:nvPr/>
        </p:nvSpPr>
        <p:spPr>
          <a:xfrm>
            <a:off x="7050024" y="2560320"/>
            <a:ext cx="256032" cy="0"/>
          </a:xfrm>
          <a:prstGeom prst="line">
            <a:avLst/>
          </a:prstGeom>
          <a:noFill/>
          <a:ln w="25400">
            <a:solidFill>
              <a:srgbClr val="E1E6F2"/>
            </a:solidFill>
            <a:prstDash val="solid"/>
          </a:ln>
        </p:spPr>
        <p:txBody>
          <a:bodyPr/>
          <a:lstStyle/>
          <a:p>
            <a:endParaRPr lang="ja-JP" altLang="en-US"/>
          </a:p>
        </p:txBody>
      </p:sp>
      <p:sp>
        <p:nvSpPr>
          <p:cNvPr id="19" name="Shape 15"/>
          <p:cNvSpPr/>
          <p:nvPr/>
        </p:nvSpPr>
        <p:spPr>
          <a:xfrm>
            <a:off x="5084064" y="1965960"/>
            <a:ext cx="1965960" cy="30632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20" name="Shape 16"/>
          <p:cNvSpPr/>
          <p:nvPr/>
        </p:nvSpPr>
        <p:spPr>
          <a:xfrm>
            <a:off x="5701284" y="2240280"/>
            <a:ext cx="731520" cy="731520"/>
          </a:xfrm>
          <a:prstGeom prst="ellipse">
            <a:avLst/>
          </a:prstGeom>
          <a:solidFill>
            <a:srgbClr val="1E2761"/>
          </a:solidFill>
          <a:ln/>
        </p:spPr>
        <p:txBody>
          <a:bodyPr/>
          <a:lstStyle/>
          <a:p>
            <a:endParaRPr lang="ja-JP" altLang="en-US"/>
          </a:p>
        </p:txBody>
      </p:sp>
      <p:pic>
        <p:nvPicPr>
          <p:cNvPr id="21" name="Image 2" descr="preencoded.png"/>
          <p:cNvPicPr>
            <a:picLocks noChangeAspect="1"/>
          </p:cNvPicPr>
          <p:nvPr/>
        </p:nvPicPr>
        <p:blipFill>
          <a:blip r:embed="rId5"/>
          <a:stretch>
            <a:fillRect/>
          </a:stretch>
        </p:blipFill>
        <p:spPr>
          <a:xfrm>
            <a:off x="5884164" y="2423160"/>
            <a:ext cx="365760" cy="365760"/>
          </a:xfrm>
          <a:prstGeom prst="rect">
            <a:avLst/>
          </a:prstGeom>
        </p:spPr>
      </p:pic>
      <p:sp>
        <p:nvSpPr>
          <p:cNvPr id="22" name="Text 17"/>
          <p:cNvSpPr/>
          <p:nvPr/>
        </p:nvSpPr>
        <p:spPr>
          <a:xfrm>
            <a:off x="6592824" y="2075688"/>
            <a:ext cx="365760" cy="365760"/>
          </a:xfrm>
          <a:prstGeom prst="rect">
            <a:avLst/>
          </a:prstGeom>
          <a:noFill/>
          <a:ln/>
        </p:spPr>
        <p:txBody>
          <a:bodyPr wrap="square" rtlCol="0" anchor="ctr"/>
          <a:lstStyle/>
          <a:p>
            <a:pPr marL="0" indent="0" algn="r">
              <a:buNone/>
            </a:pPr>
            <a:r>
              <a:rPr lang="en-US" sz="1500" b="1" dirty="0">
                <a:solidFill>
                  <a:srgbClr val="CADCFC"/>
                </a:solidFill>
                <a:latin typeface="Georgia" pitchFamily="34" charset="0"/>
                <a:ea typeface="Georgia" pitchFamily="34" charset="-122"/>
                <a:cs typeface="Georgia" pitchFamily="34" charset="-120"/>
              </a:rPr>
              <a:t>3</a:t>
            </a:r>
            <a:endParaRPr lang="en-US" sz="1500" dirty="0"/>
          </a:p>
        </p:txBody>
      </p:sp>
      <p:sp>
        <p:nvSpPr>
          <p:cNvPr id="23" name="Text 18"/>
          <p:cNvSpPr/>
          <p:nvPr/>
        </p:nvSpPr>
        <p:spPr>
          <a:xfrm>
            <a:off x="5175504" y="3108960"/>
            <a:ext cx="1783080" cy="822960"/>
          </a:xfrm>
          <a:prstGeom prst="rect">
            <a:avLst/>
          </a:prstGeom>
          <a:noFill/>
          <a:ln/>
        </p:spPr>
        <p:txBody>
          <a:bodyPr wrap="square" rtlCol="0" anchor="ctr"/>
          <a:lstStyle/>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AIが</a:t>
            </a:r>
            <a:endParaRPr lang="en-US" sz="1300" dirty="0"/>
          </a:p>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即時に文字化</a:t>
            </a:r>
            <a:endParaRPr lang="en-US" sz="1300" dirty="0"/>
          </a:p>
        </p:txBody>
      </p:sp>
      <p:sp>
        <p:nvSpPr>
          <p:cNvPr id="24" name="Text 19"/>
          <p:cNvSpPr/>
          <p:nvPr/>
        </p:nvSpPr>
        <p:spPr>
          <a:xfrm>
            <a:off x="5221224" y="4023360"/>
            <a:ext cx="1691640" cy="914400"/>
          </a:xfrm>
          <a:prstGeom prst="rect">
            <a:avLst/>
          </a:prstGeom>
          <a:noFill/>
          <a:ln/>
        </p:spPr>
        <p:txBody>
          <a:bodyPr wrap="square" rtlCol="0" anchor="ctr"/>
          <a:lstStyle/>
          <a:p>
            <a:pPr marL="0" indent="0" algn="ctr">
              <a:lnSpc>
                <a:spcPct val="120000"/>
              </a:lnSpc>
              <a:buNone/>
            </a:pPr>
            <a:r>
              <a:rPr lang="en-US" sz="1050" dirty="0">
                <a:solidFill>
                  <a:srgbClr val="6B7690"/>
                </a:solidFill>
                <a:latin typeface="Calibri" pitchFamily="34" charset="0"/>
                <a:ea typeface="Calibri" pitchFamily="34" charset="-122"/>
                <a:cs typeface="Calibri" pitchFamily="34" charset="-120"/>
              </a:rPr>
              <a:t>faster-whisperで即時テキスト化</a:t>
            </a:r>
            <a:endParaRPr lang="en-US" sz="1050" dirty="0"/>
          </a:p>
        </p:txBody>
      </p:sp>
      <p:sp>
        <p:nvSpPr>
          <p:cNvPr id="25" name="Shape 20"/>
          <p:cNvSpPr/>
          <p:nvPr/>
        </p:nvSpPr>
        <p:spPr>
          <a:xfrm>
            <a:off x="9272016" y="2560320"/>
            <a:ext cx="256032" cy="0"/>
          </a:xfrm>
          <a:prstGeom prst="line">
            <a:avLst/>
          </a:prstGeom>
          <a:noFill/>
          <a:ln w="25400">
            <a:solidFill>
              <a:srgbClr val="E1E6F2"/>
            </a:solidFill>
            <a:prstDash val="solid"/>
          </a:ln>
        </p:spPr>
        <p:txBody>
          <a:bodyPr/>
          <a:lstStyle/>
          <a:p>
            <a:endParaRPr lang="ja-JP" altLang="en-US"/>
          </a:p>
        </p:txBody>
      </p:sp>
      <p:sp>
        <p:nvSpPr>
          <p:cNvPr id="26" name="Shape 21"/>
          <p:cNvSpPr/>
          <p:nvPr/>
        </p:nvSpPr>
        <p:spPr>
          <a:xfrm>
            <a:off x="7306056" y="1965960"/>
            <a:ext cx="1965960" cy="30632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27" name="Shape 22"/>
          <p:cNvSpPr/>
          <p:nvPr/>
        </p:nvSpPr>
        <p:spPr>
          <a:xfrm>
            <a:off x="7923276" y="2240280"/>
            <a:ext cx="731520" cy="731520"/>
          </a:xfrm>
          <a:prstGeom prst="ellipse">
            <a:avLst/>
          </a:prstGeom>
          <a:solidFill>
            <a:srgbClr val="1E2761"/>
          </a:solidFill>
          <a:ln/>
        </p:spPr>
        <p:txBody>
          <a:bodyPr/>
          <a:lstStyle/>
          <a:p>
            <a:endParaRPr lang="ja-JP" altLang="en-US"/>
          </a:p>
        </p:txBody>
      </p:sp>
      <p:pic>
        <p:nvPicPr>
          <p:cNvPr id="28" name="Image 3" descr="preencoded.png"/>
          <p:cNvPicPr>
            <a:picLocks noChangeAspect="1"/>
          </p:cNvPicPr>
          <p:nvPr/>
        </p:nvPicPr>
        <p:blipFill>
          <a:blip r:embed="rId5"/>
          <a:stretch>
            <a:fillRect/>
          </a:stretch>
        </p:blipFill>
        <p:spPr>
          <a:xfrm>
            <a:off x="8106156" y="2423160"/>
            <a:ext cx="365760" cy="365760"/>
          </a:xfrm>
          <a:prstGeom prst="rect">
            <a:avLst/>
          </a:prstGeom>
        </p:spPr>
      </p:pic>
      <p:sp>
        <p:nvSpPr>
          <p:cNvPr id="29" name="Text 23"/>
          <p:cNvSpPr/>
          <p:nvPr/>
        </p:nvSpPr>
        <p:spPr>
          <a:xfrm>
            <a:off x="8814816" y="2075688"/>
            <a:ext cx="365760" cy="365760"/>
          </a:xfrm>
          <a:prstGeom prst="rect">
            <a:avLst/>
          </a:prstGeom>
          <a:noFill/>
          <a:ln/>
        </p:spPr>
        <p:txBody>
          <a:bodyPr wrap="square" rtlCol="0" anchor="ctr"/>
          <a:lstStyle/>
          <a:p>
            <a:pPr marL="0" indent="0" algn="r">
              <a:buNone/>
            </a:pPr>
            <a:r>
              <a:rPr lang="en-US" sz="1500" b="1" dirty="0">
                <a:solidFill>
                  <a:srgbClr val="CADCFC"/>
                </a:solidFill>
                <a:latin typeface="Georgia" pitchFamily="34" charset="0"/>
                <a:ea typeface="Georgia" pitchFamily="34" charset="-122"/>
                <a:cs typeface="Georgia" pitchFamily="34" charset="-120"/>
              </a:rPr>
              <a:t>4</a:t>
            </a:r>
            <a:endParaRPr lang="en-US" sz="1500" dirty="0"/>
          </a:p>
        </p:txBody>
      </p:sp>
      <p:sp>
        <p:nvSpPr>
          <p:cNvPr id="30" name="Text 24"/>
          <p:cNvSpPr/>
          <p:nvPr/>
        </p:nvSpPr>
        <p:spPr>
          <a:xfrm>
            <a:off x="7397496" y="3108960"/>
            <a:ext cx="1783080" cy="822960"/>
          </a:xfrm>
          <a:prstGeom prst="rect">
            <a:avLst/>
          </a:prstGeom>
          <a:noFill/>
          <a:ln/>
        </p:spPr>
        <p:txBody>
          <a:bodyPr wrap="square" rtlCol="0" anchor="ctr"/>
          <a:lstStyle/>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試験後にAIが</a:t>
            </a:r>
            <a:endParaRPr lang="en-US" sz="1300" dirty="0"/>
          </a:p>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議事録を生成</a:t>
            </a:r>
            <a:endParaRPr lang="en-US" sz="1300" dirty="0"/>
          </a:p>
        </p:txBody>
      </p:sp>
      <p:sp>
        <p:nvSpPr>
          <p:cNvPr id="31" name="Text 25"/>
          <p:cNvSpPr/>
          <p:nvPr/>
        </p:nvSpPr>
        <p:spPr>
          <a:xfrm>
            <a:off x="7443216" y="4023360"/>
            <a:ext cx="1691640" cy="914400"/>
          </a:xfrm>
          <a:prstGeom prst="rect">
            <a:avLst/>
          </a:prstGeom>
          <a:noFill/>
          <a:ln/>
        </p:spPr>
        <p:txBody>
          <a:bodyPr wrap="square" rtlCol="0" anchor="ctr"/>
          <a:lstStyle/>
          <a:p>
            <a:pPr marL="0" indent="0" algn="ctr">
              <a:lnSpc>
                <a:spcPct val="120000"/>
              </a:lnSpc>
              <a:buNone/>
            </a:pPr>
            <a:r>
              <a:rPr lang="en-US" sz="1050" dirty="0">
                <a:solidFill>
                  <a:srgbClr val="6B7690"/>
                </a:solidFill>
                <a:latin typeface="Calibri" pitchFamily="34" charset="0"/>
                <a:ea typeface="Calibri" pitchFamily="34" charset="-122"/>
                <a:cs typeface="Calibri" pitchFamily="34" charset="-120"/>
              </a:rPr>
              <a:t>要点抽出→統合の2段階でAIが作成</a:t>
            </a:r>
            <a:endParaRPr lang="en-US" sz="1050" dirty="0"/>
          </a:p>
        </p:txBody>
      </p:sp>
      <p:sp>
        <p:nvSpPr>
          <p:cNvPr id="32" name="Shape 26"/>
          <p:cNvSpPr/>
          <p:nvPr/>
        </p:nvSpPr>
        <p:spPr>
          <a:xfrm>
            <a:off x="9528048" y="1965960"/>
            <a:ext cx="1965960" cy="30632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33" name="Shape 27"/>
          <p:cNvSpPr/>
          <p:nvPr/>
        </p:nvSpPr>
        <p:spPr>
          <a:xfrm>
            <a:off x="10145268" y="2240280"/>
            <a:ext cx="731520" cy="731520"/>
          </a:xfrm>
          <a:prstGeom prst="ellipse">
            <a:avLst/>
          </a:prstGeom>
          <a:solidFill>
            <a:srgbClr val="1E2761"/>
          </a:solidFill>
          <a:ln/>
        </p:spPr>
        <p:txBody>
          <a:bodyPr/>
          <a:lstStyle/>
          <a:p>
            <a:endParaRPr lang="ja-JP" altLang="en-US"/>
          </a:p>
        </p:txBody>
      </p:sp>
      <p:pic>
        <p:nvPicPr>
          <p:cNvPr id="34" name="Image 4" descr="preencoded.png"/>
          <p:cNvPicPr>
            <a:picLocks noChangeAspect="1"/>
          </p:cNvPicPr>
          <p:nvPr/>
        </p:nvPicPr>
        <p:blipFill>
          <a:blip r:embed="rId6"/>
          <a:stretch>
            <a:fillRect/>
          </a:stretch>
        </p:blipFill>
        <p:spPr>
          <a:xfrm>
            <a:off x="10328148" y="2423160"/>
            <a:ext cx="365760" cy="365760"/>
          </a:xfrm>
          <a:prstGeom prst="rect">
            <a:avLst/>
          </a:prstGeom>
        </p:spPr>
      </p:pic>
      <p:sp>
        <p:nvSpPr>
          <p:cNvPr id="35" name="Text 28"/>
          <p:cNvSpPr/>
          <p:nvPr/>
        </p:nvSpPr>
        <p:spPr>
          <a:xfrm>
            <a:off x="11036808" y="2075688"/>
            <a:ext cx="365760" cy="365760"/>
          </a:xfrm>
          <a:prstGeom prst="rect">
            <a:avLst/>
          </a:prstGeom>
          <a:noFill/>
          <a:ln/>
        </p:spPr>
        <p:txBody>
          <a:bodyPr wrap="square" rtlCol="0" anchor="ctr"/>
          <a:lstStyle/>
          <a:p>
            <a:pPr marL="0" indent="0" algn="r">
              <a:buNone/>
            </a:pPr>
            <a:r>
              <a:rPr lang="en-US" sz="1500" b="1" dirty="0">
                <a:solidFill>
                  <a:srgbClr val="CADCFC"/>
                </a:solidFill>
                <a:latin typeface="Georgia" pitchFamily="34" charset="0"/>
                <a:ea typeface="Georgia" pitchFamily="34" charset="-122"/>
                <a:cs typeface="Georgia" pitchFamily="34" charset="-120"/>
              </a:rPr>
              <a:t>5</a:t>
            </a:r>
            <a:endParaRPr lang="en-US" sz="1500" dirty="0"/>
          </a:p>
        </p:txBody>
      </p:sp>
      <p:sp>
        <p:nvSpPr>
          <p:cNvPr id="36" name="Text 29"/>
          <p:cNvSpPr/>
          <p:nvPr/>
        </p:nvSpPr>
        <p:spPr>
          <a:xfrm>
            <a:off x="9619488" y="3108960"/>
            <a:ext cx="1783080" cy="822960"/>
          </a:xfrm>
          <a:prstGeom prst="rect">
            <a:avLst/>
          </a:prstGeom>
          <a:noFill/>
          <a:ln/>
        </p:spPr>
        <p:txBody>
          <a:bodyPr wrap="square" rtlCol="0" anchor="ctr"/>
          <a:lstStyle/>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Word文書で</a:t>
            </a:r>
            <a:endParaRPr lang="en-US" sz="1300" dirty="0"/>
          </a:p>
          <a:p>
            <a:pPr marL="0" indent="0" algn="ctr">
              <a:lnSpc>
                <a:spcPct val="110000"/>
              </a:lnSpc>
              <a:buNone/>
            </a:pPr>
            <a:r>
              <a:rPr lang="en-US" sz="1300" b="1" dirty="0">
                <a:solidFill>
                  <a:srgbClr val="1E2761"/>
                </a:solidFill>
                <a:latin typeface="Calibri" pitchFamily="34" charset="0"/>
                <a:ea typeface="Calibri" pitchFamily="34" charset="-122"/>
                <a:cs typeface="Calibri" pitchFamily="34" charset="-120"/>
              </a:rPr>
              <a:t>出力</a:t>
            </a:r>
            <a:endParaRPr lang="en-US" sz="1300" dirty="0"/>
          </a:p>
        </p:txBody>
      </p:sp>
      <p:sp>
        <p:nvSpPr>
          <p:cNvPr id="37" name="Text 30"/>
          <p:cNvSpPr/>
          <p:nvPr/>
        </p:nvSpPr>
        <p:spPr>
          <a:xfrm>
            <a:off x="9665208" y="4023360"/>
            <a:ext cx="1691640" cy="914400"/>
          </a:xfrm>
          <a:prstGeom prst="rect">
            <a:avLst/>
          </a:prstGeom>
          <a:noFill/>
          <a:ln/>
        </p:spPr>
        <p:txBody>
          <a:bodyPr wrap="square" rtlCol="0" anchor="ctr"/>
          <a:lstStyle/>
          <a:p>
            <a:pPr marL="0" indent="0" algn="ctr">
              <a:lnSpc>
                <a:spcPct val="120000"/>
              </a:lnSpc>
              <a:buNone/>
            </a:pPr>
            <a:r>
              <a:rPr lang="en-US" sz="1050" dirty="0">
                <a:solidFill>
                  <a:srgbClr val="6B7690"/>
                </a:solidFill>
                <a:latin typeface="Calibri" pitchFamily="34" charset="0"/>
                <a:ea typeface="Calibri" pitchFamily="34" charset="-122"/>
                <a:cs typeface="Calibri" pitchFamily="34" charset="-120"/>
              </a:rPr>
              <a:t>そのままダウンロード・配布</a:t>
            </a:r>
            <a:endParaRPr lang="en-US" sz="1050" dirty="0"/>
          </a:p>
        </p:txBody>
      </p:sp>
      <p:sp>
        <p:nvSpPr>
          <p:cNvPr id="38" name="Shape 31"/>
          <p:cNvSpPr/>
          <p:nvPr/>
        </p:nvSpPr>
        <p:spPr>
          <a:xfrm>
            <a:off x="640080" y="5349240"/>
            <a:ext cx="10881360" cy="914400"/>
          </a:xfrm>
          <a:prstGeom prst="rect">
            <a:avLst/>
          </a:prstGeom>
          <a:solidFill>
            <a:srgbClr val="EAF0FB"/>
          </a:solidFill>
          <a:ln w="12700">
            <a:solidFill>
              <a:srgbClr val="E1E6F2"/>
            </a:solidFill>
            <a:prstDash val="solid"/>
          </a:ln>
        </p:spPr>
        <p:txBody>
          <a:bodyPr/>
          <a:lstStyle/>
          <a:p>
            <a:endParaRPr lang="ja-JP" altLang="en-US"/>
          </a:p>
        </p:txBody>
      </p:sp>
      <p:sp>
        <p:nvSpPr>
          <p:cNvPr id="39" name="Text 32"/>
          <p:cNvSpPr/>
          <p:nvPr/>
        </p:nvSpPr>
        <p:spPr>
          <a:xfrm>
            <a:off x="868680" y="5349240"/>
            <a:ext cx="10424160" cy="9144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使用モデル: 文字起こし = faster-whisper large-v3　／　議事録生成 = Ollama (qwen3.5:9b)</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使い方</a:t>
            </a:r>
            <a:endParaRPr lang="en-US" sz="3000" dirty="0"/>
          </a:p>
        </p:txBody>
      </p:sp>
      <p:sp>
        <p:nvSpPr>
          <p:cNvPr id="3" name="Text 1"/>
          <p:cNvSpPr/>
          <p:nvPr/>
        </p:nvSpPr>
        <p:spPr>
          <a:xfrm>
            <a:off x="640080" y="1097280"/>
            <a:ext cx="10698480" cy="365760"/>
          </a:xfrm>
          <a:prstGeom prst="rect">
            <a:avLst/>
          </a:prstGeom>
          <a:noFill/>
          <a:ln/>
        </p:spPr>
        <p:txBody>
          <a:bodyPr wrap="square" rtlCol="0" anchor="ctr"/>
          <a:lstStyle/>
          <a:p>
            <a:pPr marL="0" indent="0">
              <a:buNone/>
            </a:pPr>
            <a:r>
              <a:rPr lang="en-US" sz="1350" dirty="0">
                <a:solidFill>
                  <a:srgbClr val="6B7690"/>
                </a:solidFill>
                <a:latin typeface="Calibri" pitchFamily="34" charset="0"/>
                <a:ea typeface="Calibri" pitchFamily="34" charset="-122"/>
                <a:cs typeface="Calibri" pitchFamily="34" charset="-120"/>
              </a:rPr>
              <a:t>試験当日、特別な操作は必要ありません</a:t>
            </a:r>
            <a:endParaRPr lang="en-US" sz="1350" dirty="0"/>
          </a:p>
        </p:txBody>
      </p:sp>
      <p:sp>
        <p:nvSpPr>
          <p:cNvPr id="4" name="Shape 2"/>
          <p:cNvSpPr/>
          <p:nvPr/>
        </p:nvSpPr>
        <p:spPr>
          <a:xfrm>
            <a:off x="640080" y="1920240"/>
            <a:ext cx="3429000" cy="3931920"/>
          </a:xfrm>
          <a:prstGeom prst="rect">
            <a:avLst/>
          </a:prstGeom>
          <a:solidFill>
            <a:srgbClr val="FFFFFF"/>
          </a:solidFill>
          <a:ln w="12700">
            <a:solidFill>
              <a:srgbClr val="E1E6F2"/>
            </a:solidFill>
            <a:prstDash val="solid"/>
          </a:ln>
          <a:effectLst>
            <a:outerShdw blurRad="127000" dist="38100" dir="5400000" algn="bl" rotWithShape="0">
              <a:srgbClr val="1E2761">
                <a:alpha val="7000"/>
              </a:srgbClr>
            </a:outerShdw>
          </a:effectLst>
        </p:spPr>
        <p:txBody>
          <a:bodyPr/>
          <a:lstStyle/>
          <a:p>
            <a:endParaRPr lang="ja-JP" altLang="en-US"/>
          </a:p>
        </p:txBody>
      </p:sp>
      <p:sp>
        <p:nvSpPr>
          <p:cNvPr id="5" name="Shape 3"/>
          <p:cNvSpPr/>
          <p:nvPr/>
        </p:nvSpPr>
        <p:spPr>
          <a:xfrm>
            <a:off x="640080" y="1920240"/>
            <a:ext cx="3429000" cy="91440"/>
          </a:xfrm>
          <a:prstGeom prst="rect">
            <a:avLst/>
          </a:prstGeom>
          <a:solidFill>
            <a:srgbClr val="1E2761"/>
          </a:solidFill>
          <a:ln/>
        </p:spPr>
        <p:txBody>
          <a:bodyPr/>
          <a:lstStyle/>
          <a:p>
            <a:endParaRPr lang="ja-JP" altLang="en-US"/>
          </a:p>
        </p:txBody>
      </p:sp>
      <p:sp>
        <p:nvSpPr>
          <p:cNvPr id="6" name="Text 4"/>
          <p:cNvSpPr/>
          <p:nvPr/>
        </p:nvSpPr>
        <p:spPr>
          <a:xfrm>
            <a:off x="914400" y="2240280"/>
            <a:ext cx="1097280" cy="914400"/>
          </a:xfrm>
          <a:prstGeom prst="rect">
            <a:avLst/>
          </a:prstGeom>
          <a:noFill/>
          <a:ln/>
        </p:spPr>
        <p:txBody>
          <a:bodyPr wrap="square" rtlCol="0" anchor="ctr"/>
          <a:lstStyle/>
          <a:p>
            <a:pPr marL="0" indent="0">
              <a:buNone/>
            </a:pPr>
            <a:r>
              <a:rPr lang="en-US" sz="4400" b="1" dirty="0">
                <a:solidFill>
                  <a:srgbClr val="CADCFC"/>
                </a:solidFill>
                <a:latin typeface="Georgia" pitchFamily="34" charset="0"/>
                <a:ea typeface="Georgia" pitchFamily="34" charset="-122"/>
                <a:cs typeface="Georgia" pitchFamily="34" charset="-120"/>
              </a:rPr>
              <a:t>1</a:t>
            </a:r>
            <a:endParaRPr lang="en-US" sz="4400" dirty="0"/>
          </a:p>
        </p:txBody>
      </p:sp>
      <p:sp>
        <p:nvSpPr>
          <p:cNvPr id="7" name="Shape 5"/>
          <p:cNvSpPr/>
          <p:nvPr/>
        </p:nvSpPr>
        <p:spPr>
          <a:xfrm>
            <a:off x="3017520" y="2286000"/>
            <a:ext cx="777240" cy="777240"/>
          </a:xfrm>
          <a:prstGeom prst="ellipse">
            <a:avLst/>
          </a:prstGeom>
          <a:solidFill>
            <a:srgbClr val="1E2761"/>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3211830" y="2480310"/>
            <a:ext cx="388620" cy="388620"/>
          </a:xfrm>
          <a:prstGeom prst="rect">
            <a:avLst/>
          </a:prstGeom>
        </p:spPr>
      </p:pic>
      <p:sp>
        <p:nvSpPr>
          <p:cNvPr id="9" name="Text 6"/>
          <p:cNvSpPr/>
          <p:nvPr/>
        </p:nvSpPr>
        <p:spPr>
          <a:xfrm>
            <a:off x="914400" y="3291840"/>
            <a:ext cx="2880360" cy="457200"/>
          </a:xfrm>
          <a:prstGeom prst="rect">
            <a:avLst/>
          </a:prstGeom>
          <a:noFill/>
          <a:ln/>
        </p:spPr>
        <p:txBody>
          <a:bodyPr wrap="square" rtlCol="0" anchor="ctr"/>
          <a:lstStyle/>
          <a:p>
            <a:pPr marL="0" indent="0">
              <a:buNone/>
            </a:pPr>
            <a:r>
              <a:rPr lang="en-US" sz="1900" b="1" dirty="0">
                <a:solidFill>
                  <a:srgbClr val="1E2761"/>
                </a:solidFill>
                <a:latin typeface="Calibri" pitchFamily="34" charset="0"/>
                <a:ea typeface="Calibri" pitchFamily="34" charset="-122"/>
                <a:cs typeface="Calibri" pitchFamily="34" charset="-120"/>
              </a:rPr>
              <a:t>試験前</a:t>
            </a:r>
            <a:endParaRPr lang="en-US" sz="1900" dirty="0"/>
          </a:p>
        </p:txBody>
      </p:sp>
      <p:sp>
        <p:nvSpPr>
          <p:cNvPr id="10" name="Text 7"/>
          <p:cNvSpPr/>
          <p:nvPr/>
        </p:nvSpPr>
        <p:spPr>
          <a:xfrm>
            <a:off x="914400" y="3886200"/>
            <a:ext cx="2880360" cy="1737360"/>
          </a:xfrm>
          <a:prstGeom prst="rect">
            <a:avLst/>
          </a:prstGeom>
          <a:noFill/>
          <a:ln/>
        </p:spPr>
        <p:txBody>
          <a:bodyPr wrap="square" rtlCol="0" anchor="ctr"/>
          <a:lstStyle/>
          <a:p>
            <a:pPr marL="0" indent="0">
              <a:lnSpc>
                <a:spcPct val="135000"/>
              </a:lnSpc>
              <a:buNone/>
            </a:pPr>
            <a:r>
              <a:rPr lang="en-US" sz="1350" dirty="0">
                <a:solidFill>
                  <a:srgbClr val="36454F"/>
                </a:solidFill>
                <a:latin typeface="Calibri" pitchFamily="34" charset="0"/>
                <a:ea typeface="Calibri" pitchFamily="34" charset="-122"/>
                <a:cs typeface="Calibri" pitchFamily="34" charset="-120"/>
              </a:rPr>
              <a:t>ブラウザで2つの画面を開き、試験名・参加者などを入力しておく</a:t>
            </a:r>
            <a:endParaRPr lang="en-US" sz="1350" dirty="0"/>
          </a:p>
        </p:txBody>
      </p:sp>
      <p:sp>
        <p:nvSpPr>
          <p:cNvPr id="11" name="Shape 8"/>
          <p:cNvSpPr/>
          <p:nvPr/>
        </p:nvSpPr>
        <p:spPr>
          <a:xfrm>
            <a:off x="4343400" y="1920240"/>
            <a:ext cx="3429000" cy="3931920"/>
          </a:xfrm>
          <a:prstGeom prst="rect">
            <a:avLst/>
          </a:prstGeom>
          <a:solidFill>
            <a:srgbClr val="FFFFFF"/>
          </a:solidFill>
          <a:ln w="12700">
            <a:solidFill>
              <a:srgbClr val="E1E6F2"/>
            </a:solidFill>
            <a:prstDash val="solid"/>
          </a:ln>
          <a:effectLst>
            <a:outerShdw blurRad="127000" dist="38100" dir="5400000" algn="bl" rotWithShape="0">
              <a:srgbClr val="1E2761">
                <a:alpha val="7000"/>
              </a:srgbClr>
            </a:outerShdw>
          </a:effectLst>
        </p:spPr>
        <p:txBody>
          <a:bodyPr/>
          <a:lstStyle/>
          <a:p>
            <a:endParaRPr lang="ja-JP" altLang="en-US"/>
          </a:p>
        </p:txBody>
      </p:sp>
      <p:sp>
        <p:nvSpPr>
          <p:cNvPr id="12" name="Shape 9"/>
          <p:cNvSpPr/>
          <p:nvPr/>
        </p:nvSpPr>
        <p:spPr>
          <a:xfrm>
            <a:off x="4343400" y="1920240"/>
            <a:ext cx="3429000" cy="91440"/>
          </a:xfrm>
          <a:prstGeom prst="rect">
            <a:avLst/>
          </a:prstGeom>
          <a:solidFill>
            <a:srgbClr val="1E2761"/>
          </a:solidFill>
          <a:ln/>
        </p:spPr>
        <p:txBody>
          <a:bodyPr/>
          <a:lstStyle/>
          <a:p>
            <a:endParaRPr lang="ja-JP" altLang="en-US"/>
          </a:p>
        </p:txBody>
      </p:sp>
      <p:sp>
        <p:nvSpPr>
          <p:cNvPr id="13" name="Text 10"/>
          <p:cNvSpPr/>
          <p:nvPr/>
        </p:nvSpPr>
        <p:spPr>
          <a:xfrm>
            <a:off x="4617720" y="2240280"/>
            <a:ext cx="1097280" cy="914400"/>
          </a:xfrm>
          <a:prstGeom prst="rect">
            <a:avLst/>
          </a:prstGeom>
          <a:noFill/>
          <a:ln/>
        </p:spPr>
        <p:txBody>
          <a:bodyPr wrap="square" rtlCol="0" anchor="ctr"/>
          <a:lstStyle/>
          <a:p>
            <a:pPr marL="0" indent="0">
              <a:buNone/>
            </a:pPr>
            <a:r>
              <a:rPr lang="en-US" sz="4400" b="1" dirty="0">
                <a:solidFill>
                  <a:srgbClr val="CADCFC"/>
                </a:solidFill>
                <a:latin typeface="Georgia" pitchFamily="34" charset="0"/>
                <a:ea typeface="Georgia" pitchFamily="34" charset="-122"/>
                <a:cs typeface="Georgia" pitchFamily="34" charset="-120"/>
              </a:rPr>
              <a:t>2</a:t>
            </a:r>
            <a:endParaRPr lang="en-US" sz="4400" dirty="0"/>
          </a:p>
        </p:txBody>
      </p:sp>
      <p:sp>
        <p:nvSpPr>
          <p:cNvPr id="14" name="Shape 11"/>
          <p:cNvSpPr/>
          <p:nvPr/>
        </p:nvSpPr>
        <p:spPr>
          <a:xfrm>
            <a:off x="6720840" y="2286000"/>
            <a:ext cx="777240" cy="777240"/>
          </a:xfrm>
          <a:prstGeom prst="ellipse">
            <a:avLst/>
          </a:prstGeom>
          <a:solidFill>
            <a:srgbClr val="1E2761"/>
          </a:solidFill>
          <a:ln/>
        </p:spPr>
        <p:txBody>
          <a:bodyPr/>
          <a:lstStyle/>
          <a:p>
            <a:endParaRPr lang="ja-JP" altLang="en-US"/>
          </a:p>
        </p:txBody>
      </p:sp>
      <p:pic>
        <p:nvPicPr>
          <p:cNvPr id="15" name="Image 1" descr="preencoded.png"/>
          <p:cNvPicPr>
            <a:picLocks noChangeAspect="1"/>
          </p:cNvPicPr>
          <p:nvPr/>
        </p:nvPicPr>
        <p:blipFill>
          <a:blip r:embed="rId4"/>
          <a:stretch>
            <a:fillRect/>
          </a:stretch>
        </p:blipFill>
        <p:spPr>
          <a:xfrm>
            <a:off x="6915150" y="2480310"/>
            <a:ext cx="388620" cy="388620"/>
          </a:xfrm>
          <a:prstGeom prst="rect">
            <a:avLst/>
          </a:prstGeom>
        </p:spPr>
      </p:pic>
      <p:sp>
        <p:nvSpPr>
          <p:cNvPr id="16" name="Text 12"/>
          <p:cNvSpPr/>
          <p:nvPr/>
        </p:nvSpPr>
        <p:spPr>
          <a:xfrm>
            <a:off x="4617720" y="3291840"/>
            <a:ext cx="2880360" cy="457200"/>
          </a:xfrm>
          <a:prstGeom prst="rect">
            <a:avLst/>
          </a:prstGeom>
          <a:noFill/>
          <a:ln/>
        </p:spPr>
        <p:txBody>
          <a:bodyPr wrap="square" rtlCol="0" anchor="ctr"/>
          <a:lstStyle/>
          <a:p>
            <a:pPr marL="0" indent="0">
              <a:buNone/>
            </a:pPr>
            <a:r>
              <a:rPr lang="en-US" sz="1900" b="1" dirty="0">
                <a:solidFill>
                  <a:srgbClr val="1E2761"/>
                </a:solidFill>
                <a:latin typeface="Calibri" pitchFamily="34" charset="0"/>
                <a:ea typeface="Calibri" pitchFamily="34" charset="-122"/>
                <a:cs typeface="Calibri" pitchFamily="34" charset="-120"/>
              </a:rPr>
              <a:t>試験中</a:t>
            </a:r>
            <a:endParaRPr lang="en-US" sz="1900" dirty="0"/>
          </a:p>
        </p:txBody>
      </p:sp>
      <p:sp>
        <p:nvSpPr>
          <p:cNvPr id="17" name="Text 13"/>
          <p:cNvSpPr/>
          <p:nvPr/>
        </p:nvSpPr>
        <p:spPr>
          <a:xfrm>
            <a:off x="4617720" y="3886200"/>
            <a:ext cx="2880360" cy="1737360"/>
          </a:xfrm>
          <a:prstGeom prst="rect">
            <a:avLst/>
          </a:prstGeom>
          <a:noFill/>
          <a:ln/>
        </p:spPr>
        <p:txBody>
          <a:bodyPr wrap="square" rtlCol="0" anchor="ctr"/>
          <a:lstStyle/>
          <a:p>
            <a:pPr marL="0" indent="0">
              <a:lnSpc>
                <a:spcPct val="135000"/>
              </a:lnSpc>
              <a:buNone/>
            </a:pPr>
            <a:r>
              <a:rPr lang="en-US" sz="1350" dirty="0">
                <a:solidFill>
                  <a:srgbClr val="36454F"/>
                </a:solidFill>
                <a:latin typeface="Calibri" pitchFamily="34" charset="0"/>
                <a:ea typeface="Calibri" pitchFamily="34" charset="-122"/>
                <a:cs typeface="Calibri" pitchFamily="34" charset="-120"/>
              </a:rPr>
              <a:t>「録音開始」ボタンを押すだけ。あとは試験を進めるだけでよい</a:t>
            </a:r>
            <a:endParaRPr lang="en-US" sz="1350" dirty="0"/>
          </a:p>
        </p:txBody>
      </p:sp>
      <p:sp>
        <p:nvSpPr>
          <p:cNvPr id="18" name="Shape 14"/>
          <p:cNvSpPr/>
          <p:nvPr/>
        </p:nvSpPr>
        <p:spPr>
          <a:xfrm>
            <a:off x="8046720" y="1920240"/>
            <a:ext cx="3429000" cy="3931920"/>
          </a:xfrm>
          <a:prstGeom prst="rect">
            <a:avLst/>
          </a:prstGeom>
          <a:solidFill>
            <a:srgbClr val="FFFFFF"/>
          </a:solidFill>
          <a:ln w="12700">
            <a:solidFill>
              <a:srgbClr val="E1E6F2"/>
            </a:solidFill>
            <a:prstDash val="solid"/>
          </a:ln>
          <a:effectLst>
            <a:outerShdw blurRad="127000" dist="38100" dir="5400000" algn="bl" rotWithShape="0">
              <a:srgbClr val="1E2761">
                <a:alpha val="7000"/>
              </a:srgbClr>
            </a:outerShdw>
          </a:effectLst>
        </p:spPr>
        <p:txBody>
          <a:bodyPr/>
          <a:lstStyle/>
          <a:p>
            <a:endParaRPr lang="ja-JP" altLang="en-US"/>
          </a:p>
        </p:txBody>
      </p:sp>
      <p:sp>
        <p:nvSpPr>
          <p:cNvPr id="19" name="Shape 15"/>
          <p:cNvSpPr/>
          <p:nvPr/>
        </p:nvSpPr>
        <p:spPr>
          <a:xfrm>
            <a:off x="8046720" y="1920240"/>
            <a:ext cx="3429000" cy="91440"/>
          </a:xfrm>
          <a:prstGeom prst="rect">
            <a:avLst/>
          </a:prstGeom>
          <a:solidFill>
            <a:srgbClr val="1E2761"/>
          </a:solidFill>
          <a:ln/>
        </p:spPr>
        <p:txBody>
          <a:bodyPr/>
          <a:lstStyle/>
          <a:p>
            <a:endParaRPr lang="ja-JP" altLang="en-US"/>
          </a:p>
        </p:txBody>
      </p:sp>
      <p:sp>
        <p:nvSpPr>
          <p:cNvPr id="20" name="Text 16"/>
          <p:cNvSpPr/>
          <p:nvPr/>
        </p:nvSpPr>
        <p:spPr>
          <a:xfrm>
            <a:off x="8321040" y="2240280"/>
            <a:ext cx="1097280" cy="914400"/>
          </a:xfrm>
          <a:prstGeom prst="rect">
            <a:avLst/>
          </a:prstGeom>
          <a:noFill/>
          <a:ln/>
        </p:spPr>
        <p:txBody>
          <a:bodyPr wrap="square" rtlCol="0" anchor="ctr"/>
          <a:lstStyle/>
          <a:p>
            <a:pPr marL="0" indent="0">
              <a:buNone/>
            </a:pPr>
            <a:r>
              <a:rPr lang="en-US" sz="4400" b="1" dirty="0">
                <a:solidFill>
                  <a:srgbClr val="CADCFC"/>
                </a:solidFill>
                <a:latin typeface="Georgia" pitchFamily="34" charset="0"/>
                <a:ea typeface="Georgia" pitchFamily="34" charset="-122"/>
                <a:cs typeface="Georgia" pitchFamily="34" charset="-120"/>
              </a:rPr>
              <a:t>3</a:t>
            </a:r>
            <a:endParaRPr lang="en-US" sz="4400" dirty="0"/>
          </a:p>
        </p:txBody>
      </p:sp>
      <p:sp>
        <p:nvSpPr>
          <p:cNvPr id="21" name="Shape 17"/>
          <p:cNvSpPr/>
          <p:nvPr/>
        </p:nvSpPr>
        <p:spPr>
          <a:xfrm>
            <a:off x="10424160" y="2286000"/>
            <a:ext cx="777240" cy="777240"/>
          </a:xfrm>
          <a:prstGeom prst="ellipse">
            <a:avLst/>
          </a:prstGeom>
          <a:solidFill>
            <a:srgbClr val="1E2761"/>
          </a:solidFill>
          <a:ln/>
        </p:spPr>
        <p:txBody>
          <a:bodyPr/>
          <a:lstStyle/>
          <a:p>
            <a:endParaRPr lang="ja-JP" altLang="en-US"/>
          </a:p>
        </p:txBody>
      </p:sp>
      <p:pic>
        <p:nvPicPr>
          <p:cNvPr id="22" name="Image 2" descr="preencoded.png"/>
          <p:cNvPicPr>
            <a:picLocks noChangeAspect="1"/>
          </p:cNvPicPr>
          <p:nvPr/>
        </p:nvPicPr>
        <p:blipFill>
          <a:blip r:embed="rId5"/>
          <a:stretch>
            <a:fillRect/>
          </a:stretch>
        </p:blipFill>
        <p:spPr>
          <a:xfrm>
            <a:off x="10618470" y="2480310"/>
            <a:ext cx="388620" cy="388620"/>
          </a:xfrm>
          <a:prstGeom prst="rect">
            <a:avLst/>
          </a:prstGeom>
        </p:spPr>
      </p:pic>
      <p:sp>
        <p:nvSpPr>
          <p:cNvPr id="23" name="Text 18"/>
          <p:cNvSpPr/>
          <p:nvPr/>
        </p:nvSpPr>
        <p:spPr>
          <a:xfrm>
            <a:off x="8321040" y="3291840"/>
            <a:ext cx="2880360" cy="457200"/>
          </a:xfrm>
          <a:prstGeom prst="rect">
            <a:avLst/>
          </a:prstGeom>
          <a:noFill/>
          <a:ln/>
        </p:spPr>
        <p:txBody>
          <a:bodyPr wrap="square" rtlCol="0" anchor="ctr"/>
          <a:lstStyle/>
          <a:p>
            <a:pPr marL="0" indent="0">
              <a:buNone/>
            </a:pPr>
            <a:r>
              <a:rPr lang="en-US" sz="1900" b="1" dirty="0">
                <a:solidFill>
                  <a:srgbClr val="1E2761"/>
                </a:solidFill>
                <a:latin typeface="Calibri" pitchFamily="34" charset="0"/>
                <a:ea typeface="Calibri" pitchFamily="34" charset="-122"/>
                <a:cs typeface="Calibri" pitchFamily="34" charset="-120"/>
              </a:rPr>
              <a:t>試験後</a:t>
            </a:r>
            <a:endParaRPr lang="en-US" sz="1900" dirty="0"/>
          </a:p>
        </p:txBody>
      </p:sp>
      <p:sp>
        <p:nvSpPr>
          <p:cNvPr id="24" name="Text 19"/>
          <p:cNvSpPr/>
          <p:nvPr/>
        </p:nvSpPr>
        <p:spPr>
          <a:xfrm>
            <a:off x="8321040" y="3886200"/>
            <a:ext cx="2880360" cy="1737360"/>
          </a:xfrm>
          <a:prstGeom prst="rect">
            <a:avLst/>
          </a:prstGeom>
          <a:noFill/>
          <a:ln/>
        </p:spPr>
        <p:txBody>
          <a:bodyPr wrap="square" rtlCol="0" anchor="ctr"/>
          <a:lstStyle/>
          <a:p>
            <a:pPr marL="0" indent="0">
              <a:lnSpc>
                <a:spcPct val="135000"/>
              </a:lnSpc>
              <a:buNone/>
            </a:pPr>
            <a:r>
              <a:rPr lang="en-US" sz="1350" dirty="0">
                <a:solidFill>
                  <a:srgbClr val="36454F"/>
                </a:solidFill>
                <a:latin typeface="Calibri" pitchFamily="34" charset="0"/>
                <a:ea typeface="Calibri" pitchFamily="34" charset="-122"/>
                <a:cs typeface="Calibri" pitchFamily="34" charset="-120"/>
              </a:rPr>
              <a:t>「議事録を生成」ボタンを押し、</a:t>
            </a:r>
            <a:endParaRPr lang="en-US" sz="1350" dirty="0"/>
          </a:p>
          <a:p>
            <a:pPr marL="0" indent="0">
              <a:lnSpc>
                <a:spcPct val="135000"/>
              </a:lnSpc>
              <a:buNone/>
            </a:pPr>
            <a:r>
              <a:rPr lang="en-US" sz="1350" dirty="0">
                <a:solidFill>
                  <a:srgbClr val="36454F"/>
                </a:solidFill>
                <a:latin typeface="Calibri" pitchFamily="34" charset="0"/>
                <a:ea typeface="Calibri" pitchFamily="34" charset="-122"/>
                <a:cs typeface="Calibri" pitchFamily="34" charset="-120"/>
              </a:rPr>
              <a:t>できあがったWord文書を保存</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実演：入力(試験音声の一場面)</a:t>
            </a:r>
            <a:endParaRPr lang="en-US" sz="30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300" dirty="0">
                <a:solidFill>
                  <a:srgbClr val="6B7690"/>
                </a:solidFill>
                <a:latin typeface="Calibri" pitchFamily="34" charset="0"/>
                <a:ea typeface="Calibri" pitchFamily="34" charset="-122"/>
                <a:cs typeface="Calibri" pitchFamily="34" charset="-120"/>
              </a:rPr>
              <a:t>配電盤の立会試験を模した音声で実際にシステムを動かした例です。絶縁抵抗の測定値を巡るやり取りを抜粋します</a:t>
            </a:r>
            <a:endParaRPr lang="en-US" sz="1300" dirty="0"/>
          </a:p>
        </p:txBody>
      </p:sp>
      <p:sp>
        <p:nvSpPr>
          <p:cNvPr id="4" name="Text 2"/>
          <p:cNvSpPr/>
          <p:nvPr/>
        </p:nvSpPr>
        <p:spPr>
          <a:xfrm>
            <a:off x="777240" y="1554480"/>
            <a:ext cx="7726680" cy="274320"/>
          </a:xfrm>
          <a:prstGeom prst="rect">
            <a:avLst/>
          </a:prstGeom>
          <a:noFill/>
          <a:ln/>
        </p:spPr>
        <p:txBody>
          <a:bodyPr wrap="square" rtlCol="0" anchor="ctr"/>
          <a:lstStyle/>
          <a:p>
            <a:pPr marL="0" indent="0" algn="l">
              <a:buNone/>
            </a:pPr>
            <a:r>
              <a:rPr lang="en-US" sz="1100" b="1" dirty="0">
                <a:solidFill>
                  <a:srgbClr val="C97A45"/>
                </a:solidFill>
                <a:latin typeface="Calibri" pitchFamily="34" charset="0"/>
                <a:ea typeface="Calibri" pitchFamily="34" charset="-122"/>
                <a:cs typeface="Calibri" pitchFamily="34" charset="-120"/>
              </a:rPr>
              <a:t>相手方(山田)</a:t>
            </a:r>
            <a:endParaRPr lang="en-US" sz="1100" dirty="0"/>
          </a:p>
        </p:txBody>
      </p:sp>
      <p:sp>
        <p:nvSpPr>
          <p:cNvPr id="5" name="Shape 3"/>
          <p:cNvSpPr/>
          <p:nvPr/>
        </p:nvSpPr>
        <p:spPr>
          <a:xfrm>
            <a:off x="640080" y="1847088"/>
            <a:ext cx="7863840" cy="749808"/>
          </a:xfrm>
          <a:prstGeom prst="rect">
            <a:avLst/>
          </a:prstGeom>
          <a:solidFill>
            <a:srgbClr val="FFFFFF"/>
          </a:solidFill>
          <a:ln w="12700">
            <a:solidFill>
              <a:srgbClr val="E1E6F2"/>
            </a:solidFill>
            <a:prstDash val="solid"/>
          </a:ln>
        </p:spPr>
        <p:txBody>
          <a:bodyPr/>
          <a:lstStyle/>
          <a:p>
            <a:endParaRPr lang="ja-JP" altLang="en-US"/>
          </a:p>
        </p:txBody>
      </p:sp>
      <p:sp>
        <p:nvSpPr>
          <p:cNvPr id="6" name="Shape 4"/>
          <p:cNvSpPr/>
          <p:nvPr/>
        </p:nvSpPr>
        <p:spPr>
          <a:xfrm>
            <a:off x="640080" y="1847088"/>
            <a:ext cx="73152" cy="749808"/>
          </a:xfrm>
          <a:prstGeom prst="rect">
            <a:avLst/>
          </a:prstGeom>
          <a:solidFill>
            <a:srgbClr val="C97A45"/>
          </a:solidFill>
          <a:ln/>
        </p:spPr>
        <p:txBody>
          <a:bodyPr/>
          <a:lstStyle/>
          <a:p>
            <a:endParaRPr lang="ja-JP" altLang="en-US"/>
          </a:p>
        </p:txBody>
      </p:sp>
      <p:sp>
        <p:nvSpPr>
          <p:cNvPr id="7" name="Text 5"/>
          <p:cNvSpPr/>
          <p:nvPr/>
        </p:nvSpPr>
        <p:spPr>
          <a:xfrm>
            <a:off x="914400" y="1847088"/>
            <a:ext cx="7315200" cy="749808"/>
          </a:xfrm>
          <a:prstGeom prst="rect">
            <a:avLst/>
          </a:prstGeom>
          <a:noFill/>
          <a:ln/>
        </p:spPr>
        <p:txBody>
          <a:bodyPr wrap="square" rtlCol="0" anchor="ctr"/>
          <a:lstStyle/>
          <a:p>
            <a:pPr marL="0" indent="0">
              <a:lnSpc>
                <a:spcPct val="115000"/>
              </a:lnSpc>
              <a:buNone/>
            </a:pPr>
            <a:r>
              <a:rPr lang="en-US" sz="1300" dirty="0">
                <a:solidFill>
                  <a:srgbClr val="36454F"/>
                </a:solidFill>
                <a:latin typeface="Calibri" pitchFamily="34" charset="0"/>
                <a:ea typeface="Calibri" pitchFamily="34" charset="-122"/>
                <a:cs typeface="Calibri" pitchFamily="34" charset="-120"/>
              </a:rPr>
              <a:t>3.2メグオームですか。基準値にかなり近い数値ですが、大丈夫でしょうか。</a:t>
            </a:r>
            <a:endParaRPr lang="en-US" sz="1300" dirty="0"/>
          </a:p>
        </p:txBody>
      </p:sp>
      <p:sp>
        <p:nvSpPr>
          <p:cNvPr id="8" name="Text 6"/>
          <p:cNvSpPr/>
          <p:nvPr/>
        </p:nvSpPr>
        <p:spPr>
          <a:xfrm>
            <a:off x="3687775" y="2688336"/>
            <a:ext cx="7726680" cy="274320"/>
          </a:xfrm>
          <a:prstGeom prst="rect">
            <a:avLst/>
          </a:prstGeom>
          <a:noFill/>
          <a:ln/>
        </p:spPr>
        <p:txBody>
          <a:bodyPr wrap="square" rtlCol="0" anchor="ctr"/>
          <a:lstStyle/>
          <a:p>
            <a:pPr marL="0" indent="0" algn="r">
              <a:buNone/>
            </a:pPr>
            <a:r>
              <a:rPr lang="en-US" sz="1100" b="1" dirty="0">
                <a:solidFill>
                  <a:srgbClr val="2A5DBF"/>
                </a:solidFill>
                <a:latin typeface="Calibri" pitchFamily="34" charset="0"/>
                <a:ea typeface="Calibri" pitchFamily="34" charset="-122"/>
                <a:cs typeface="Calibri" pitchFamily="34" charset="-120"/>
              </a:rPr>
              <a:t>自社(田中)</a:t>
            </a:r>
            <a:endParaRPr lang="en-US" sz="1100" dirty="0"/>
          </a:p>
        </p:txBody>
      </p:sp>
      <p:sp>
        <p:nvSpPr>
          <p:cNvPr id="9" name="Shape 7"/>
          <p:cNvSpPr/>
          <p:nvPr/>
        </p:nvSpPr>
        <p:spPr>
          <a:xfrm>
            <a:off x="3687775" y="2980944"/>
            <a:ext cx="7863840" cy="749808"/>
          </a:xfrm>
          <a:prstGeom prst="rect">
            <a:avLst/>
          </a:prstGeom>
          <a:solidFill>
            <a:srgbClr val="FFFFFF"/>
          </a:solidFill>
          <a:ln w="12700">
            <a:solidFill>
              <a:srgbClr val="E1E6F2"/>
            </a:solidFill>
            <a:prstDash val="solid"/>
          </a:ln>
        </p:spPr>
        <p:txBody>
          <a:bodyPr/>
          <a:lstStyle/>
          <a:p>
            <a:endParaRPr lang="ja-JP" altLang="en-US"/>
          </a:p>
        </p:txBody>
      </p:sp>
      <p:sp>
        <p:nvSpPr>
          <p:cNvPr id="10" name="Shape 8"/>
          <p:cNvSpPr/>
          <p:nvPr/>
        </p:nvSpPr>
        <p:spPr>
          <a:xfrm>
            <a:off x="11478463" y="2980944"/>
            <a:ext cx="73152" cy="749808"/>
          </a:xfrm>
          <a:prstGeom prst="rect">
            <a:avLst/>
          </a:prstGeom>
          <a:solidFill>
            <a:srgbClr val="2A5DBF"/>
          </a:solidFill>
          <a:ln/>
        </p:spPr>
        <p:txBody>
          <a:bodyPr/>
          <a:lstStyle/>
          <a:p>
            <a:endParaRPr lang="ja-JP" altLang="en-US"/>
          </a:p>
        </p:txBody>
      </p:sp>
      <p:sp>
        <p:nvSpPr>
          <p:cNvPr id="11" name="Text 9"/>
          <p:cNvSpPr/>
          <p:nvPr/>
        </p:nvSpPr>
        <p:spPr>
          <a:xfrm>
            <a:off x="3962095" y="2980944"/>
            <a:ext cx="7315200" cy="749808"/>
          </a:xfrm>
          <a:prstGeom prst="rect">
            <a:avLst/>
          </a:prstGeom>
          <a:noFill/>
          <a:ln/>
        </p:spPr>
        <p:txBody>
          <a:bodyPr wrap="square" rtlCol="0" anchor="ctr"/>
          <a:lstStyle/>
          <a:p>
            <a:pPr marL="0" indent="0">
              <a:lnSpc>
                <a:spcPct val="115000"/>
              </a:lnSpc>
              <a:buNone/>
            </a:pPr>
            <a:r>
              <a:rPr lang="en-US" sz="1300" dirty="0">
                <a:solidFill>
                  <a:srgbClr val="36454F"/>
                </a:solidFill>
                <a:latin typeface="Calibri" pitchFamily="34" charset="0"/>
                <a:ea typeface="Calibri" pitchFamily="34" charset="-122"/>
                <a:cs typeface="Calibri" pitchFamily="34" charset="-120"/>
              </a:rPr>
              <a:t>規格は満たしていますが、念のため技術部に持ち帰って確認します。本日のところは継続協議とさせてください。</a:t>
            </a:r>
            <a:endParaRPr lang="en-US" sz="1300" dirty="0"/>
          </a:p>
        </p:txBody>
      </p:sp>
      <p:sp>
        <p:nvSpPr>
          <p:cNvPr id="12" name="Text 10"/>
          <p:cNvSpPr/>
          <p:nvPr/>
        </p:nvSpPr>
        <p:spPr>
          <a:xfrm>
            <a:off x="3687775" y="3822192"/>
            <a:ext cx="7726680" cy="274320"/>
          </a:xfrm>
          <a:prstGeom prst="rect">
            <a:avLst/>
          </a:prstGeom>
          <a:noFill/>
          <a:ln/>
        </p:spPr>
        <p:txBody>
          <a:bodyPr wrap="square" rtlCol="0" anchor="ctr"/>
          <a:lstStyle/>
          <a:p>
            <a:pPr marL="0" indent="0" algn="r">
              <a:buNone/>
            </a:pPr>
            <a:r>
              <a:rPr lang="en-US" sz="1100" b="1" dirty="0">
                <a:solidFill>
                  <a:srgbClr val="2A5DBF"/>
                </a:solidFill>
                <a:latin typeface="Calibri" pitchFamily="34" charset="0"/>
                <a:ea typeface="Calibri" pitchFamily="34" charset="-122"/>
                <a:cs typeface="Calibri" pitchFamily="34" charset="-120"/>
              </a:rPr>
              <a:t>自社(田中)　※休憩後</a:t>
            </a:r>
            <a:endParaRPr lang="en-US" sz="1100" dirty="0"/>
          </a:p>
        </p:txBody>
      </p:sp>
      <p:sp>
        <p:nvSpPr>
          <p:cNvPr id="13" name="Shape 11"/>
          <p:cNvSpPr/>
          <p:nvPr/>
        </p:nvSpPr>
        <p:spPr>
          <a:xfrm>
            <a:off x="3687775" y="4114800"/>
            <a:ext cx="7863840" cy="749808"/>
          </a:xfrm>
          <a:prstGeom prst="rect">
            <a:avLst/>
          </a:prstGeom>
          <a:solidFill>
            <a:srgbClr val="FFFFFF"/>
          </a:solidFill>
          <a:ln w="12700">
            <a:solidFill>
              <a:srgbClr val="E1E6F2"/>
            </a:solidFill>
            <a:prstDash val="solid"/>
          </a:ln>
        </p:spPr>
        <p:txBody>
          <a:bodyPr/>
          <a:lstStyle/>
          <a:p>
            <a:endParaRPr lang="ja-JP" altLang="en-US"/>
          </a:p>
        </p:txBody>
      </p:sp>
      <p:sp>
        <p:nvSpPr>
          <p:cNvPr id="14" name="Shape 12"/>
          <p:cNvSpPr/>
          <p:nvPr/>
        </p:nvSpPr>
        <p:spPr>
          <a:xfrm>
            <a:off x="11478463" y="4114800"/>
            <a:ext cx="73152" cy="749808"/>
          </a:xfrm>
          <a:prstGeom prst="rect">
            <a:avLst/>
          </a:prstGeom>
          <a:solidFill>
            <a:srgbClr val="2A5DBF"/>
          </a:solidFill>
          <a:ln/>
        </p:spPr>
        <p:txBody>
          <a:bodyPr/>
          <a:lstStyle/>
          <a:p>
            <a:endParaRPr lang="ja-JP" altLang="en-US"/>
          </a:p>
        </p:txBody>
      </p:sp>
      <p:sp>
        <p:nvSpPr>
          <p:cNvPr id="15" name="Text 13"/>
          <p:cNvSpPr/>
          <p:nvPr/>
        </p:nvSpPr>
        <p:spPr>
          <a:xfrm>
            <a:off x="3962095" y="4114800"/>
            <a:ext cx="7315200" cy="749808"/>
          </a:xfrm>
          <a:prstGeom prst="rect">
            <a:avLst/>
          </a:prstGeom>
          <a:noFill/>
          <a:ln/>
        </p:spPr>
        <p:txBody>
          <a:bodyPr wrap="square" rtlCol="0" anchor="ctr"/>
          <a:lstStyle/>
          <a:p>
            <a:pPr marL="0" indent="0">
              <a:lnSpc>
                <a:spcPct val="115000"/>
              </a:lnSpc>
              <a:buNone/>
            </a:pPr>
            <a:r>
              <a:rPr lang="en-US" sz="1300" dirty="0">
                <a:solidFill>
                  <a:srgbClr val="36454F"/>
                </a:solidFill>
                <a:latin typeface="Calibri" pitchFamily="34" charset="0"/>
                <a:ea typeface="Calibri" pitchFamily="34" charset="-122"/>
                <a:cs typeface="Calibri" pitchFamily="34" charset="-120"/>
              </a:rPr>
              <a:t>技術部に確認したところ、測定時の湿度の影響とのことで、性能上問題ないとの回答でした。</a:t>
            </a:r>
            <a:endParaRPr lang="en-US" sz="1300" dirty="0"/>
          </a:p>
        </p:txBody>
      </p:sp>
      <p:sp>
        <p:nvSpPr>
          <p:cNvPr id="16" name="Text 14"/>
          <p:cNvSpPr/>
          <p:nvPr/>
        </p:nvSpPr>
        <p:spPr>
          <a:xfrm>
            <a:off x="777240" y="4956048"/>
            <a:ext cx="7726680" cy="274320"/>
          </a:xfrm>
          <a:prstGeom prst="rect">
            <a:avLst/>
          </a:prstGeom>
          <a:noFill/>
          <a:ln/>
        </p:spPr>
        <p:txBody>
          <a:bodyPr wrap="square" rtlCol="0" anchor="ctr"/>
          <a:lstStyle/>
          <a:p>
            <a:pPr marL="0" indent="0" algn="l">
              <a:buNone/>
            </a:pPr>
            <a:r>
              <a:rPr lang="en-US" sz="1100" b="1" dirty="0">
                <a:solidFill>
                  <a:srgbClr val="C97A45"/>
                </a:solidFill>
                <a:latin typeface="Calibri" pitchFamily="34" charset="0"/>
                <a:ea typeface="Calibri" pitchFamily="34" charset="-122"/>
                <a:cs typeface="Calibri" pitchFamily="34" charset="-120"/>
              </a:rPr>
              <a:t>相手方(山田)</a:t>
            </a:r>
            <a:endParaRPr lang="en-US" sz="1100" dirty="0"/>
          </a:p>
        </p:txBody>
      </p:sp>
      <p:sp>
        <p:nvSpPr>
          <p:cNvPr id="17" name="Shape 15"/>
          <p:cNvSpPr/>
          <p:nvPr/>
        </p:nvSpPr>
        <p:spPr>
          <a:xfrm>
            <a:off x="640080" y="5248656"/>
            <a:ext cx="7863840" cy="749808"/>
          </a:xfrm>
          <a:prstGeom prst="rect">
            <a:avLst/>
          </a:prstGeom>
          <a:solidFill>
            <a:srgbClr val="FFFFFF"/>
          </a:solidFill>
          <a:ln w="12700">
            <a:solidFill>
              <a:srgbClr val="E1E6F2"/>
            </a:solidFill>
            <a:prstDash val="solid"/>
          </a:ln>
        </p:spPr>
        <p:txBody>
          <a:bodyPr/>
          <a:lstStyle/>
          <a:p>
            <a:endParaRPr lang="ja-JP" altLang="en-US"/>
          </a:p>
        </p:txBody>
      </p:sp>
      <p:sp>
        <p:nvSpPr>
          <p:cNvPr id="18" name="Shape 16"/>
          <p:cNvSpPr/>
          <p:nvPr/>
        </p:nvSpPr>
        <p:spPr>
          <a:xfrm>
            <a:off x="640080" y="5248656"/>
            <a:ext cx="73152" cy="749808"/>
          </a:xfrm>
          <a:prstGeom prst="rect">
            <a:avLst/>
          </a:prstGeom>
          <a:solidFill>
            <a:srgbClr val="C97A45"/>
          </a:solidFill>
          <a:ln/>
        </p:spPr>
        <p:txBody>
          <a:bodyPr/>
          <a:lstStyle/>
          <a:p>
            <a:endParaRPr lang="ja-JP" altLang="en-US"/>
          </a:p>
        </p:txBody>
      </p:sp>
      <p:sp>
        <p:nvSpPr>
          <p:cNvPr id="19" name="Text 17"/>
          <p:cNvSpPr/>
          <p:nvPr/>
        </p:nvSpPr>
        <p:spPr>
          <a:xfrm>
            <a:off x="914400" y="5248656"/>
            <a:ext cx="7315200" cy="749808"/>
          </a:xfrm>
          <a:prstGeom prst="rect">
            <a:avLst/>
          </a:prstGeom>
          <a:noFill/>
          <a:ln/>
        </p:spPr>
        <p:txBody>
          <a:bodyPr wrap="square" rtlCol="0" anchor="ctr"/>
          <a:lstStyle/>
          <a:p>
            <a:pPr marL="0" indent="0">
              <a:lnSpc>
                <a:spcPct val="115000"/>
              </a:lnSpc>
              <a:buNone/>
            </a:pPr>
            <a:r>
              <a:rPr lang="en-US" sz="1300" dirty="0">
                <a:solidFill>
                  <a:srgbClr val="36454F"/>
                </a:solidFill>
                <a:latin typeface="Calibri" pitchFamily="34" charset="0"/>
                <a:ea typeface="Calibri" pitchFamily="34" charset="-122"/>
                <a:cs typeface="Calibri" pitchFamily="34" charset="-120"/>
              </a:rPr>
              <a:t>分かりました。それでは絶縁抵抗の件は、合意とさせていただきます。</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実演：出力(生成された議事録)</a:t>
            </a:r>
            <a:endParaRPr lang="en-US" sz="30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300" dirty="0">
                <a:solidFill>
                  <a:srgbClr val="6B7690"/>
                </a:solidFill>
                <a:latin typeface="Calibri" pitchFamily="34" charset="0"/>
                <a:ea typeface="Calibri" pitchFamily="34" charset="-122"/>
                <a:cs typeface="Calibri" pitchFamily="34" charset="-120"/>
              </a:rPr>
              <a:t>同じ音声から実際に生成されたWord議事録の抜粋です（実データ）</a:t>
            </a:r>
            <a:endParaRPr lang="en-US" sz="1300" dirty="0"/>
          </a:p>
        </p:txBody>
      </p:sp>
      <p:sp>
        <p:nvSpPr>
          <p:cNvPr id="4" name="Shape 2"/>
          <p:cNvSpPr/>
          <p:nvPr/>
        </p:nvSpPr>
        <p:spPr>
          <a:xfrm>
            <a:off x="640080" y="1600200"/>
            <a:ext cx="502920" cy="502920"/>
          </a:xfrm>
          <a:prstGeom prst="ellipse">
            <a:avLst/>
          </a:prstGeom>
          <a:solidFill>
            <a:srgbClr val="1E2761"/>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765810" y="1725930"/>
            <a:ext cx="251460" cy="251460"/>
          </a:xfrm>
          <a:prstGeom prst="rect">
            <a:avLst/>
          </a:prstGeom>
        </p:spPr>
      </p:pic>
      <p:sp>
        <p:nvSpPr>
          <p:cNvPr id="6" name="Text 3"/>
          <p:cNvSpPr/>
          <p:nvPr/>
        </p:nvSpPr>
        <p:spPr>
          <a:xfrm>
            <a:off x="1280160" y="1627632"/>
            <a:ext cx="5486400" cy="45720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１．協議事項（抜粋）</a:t>
            </a:r>
            <a:endParaRPr lang="en-US" sz="1450" dirty="0"/>
          </a:p>
        </p:txBody>
      </p:sp>
      <p:sp>
        <p:nvSpPr>
          <p:cNvPr id="7" name="Shape 4"/>
          <p:cNvSpPr/>
          <p:nvPr/>
        </p:nvSpPr>
        <p:spPr>
          <a:xfrm>
            <a:off x="640080" y="2148840"/>
            <a:ext cx="1828800" cy="411480"/>
          </a:xfrm>
          <a:prstGeom prst="rect">
            <a:avLst/>
          </a:prstGeom>
          <a:solidFill>
            <a:srgbClr val="D9E1F2"/>
          </a:solidFill>
          <a:ln w="12700">
            <a:solidFill>
              <a:srgbClr val="FFFFFF"/>
            </a:solidFill>
            <a:prstDash val="solid"/>
          </a:ln>
        </p:spPr>
        <p:txBody>
          <a:bodyPr/>
          <a:lstStyle/>
          <a:p>
            <a:endParaRPr lang="ja-JP" altLang="en-US"/>
          </a:p>
        </p:txBody>
      </p:sp>
      <p:sp>
        <p:nvSpPr>
          <p:cNvPr id="8" name="Text 5"/>
          <p:cNvSpPr/>
          <p:nvPr/>
        </p:nvSpPr>
        <p:spPr>
          <a:xfrm>
            <a:off x="713232" y="2148840"/>
            <a:ext cx="1682496" cy="411480"/>
          </a:xfrm>
          <a:prstGeom prst="rect">
            <a:avLst/>
          </a:prstGeom>
          <a:noFill/>
          <a:ln/>
        </p:spPr>
        <p:txBody>
          <a:bodyPr wrap="square"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議題</a:t>
            </a:r>
            <a:endParaRPr lang="en-US" sz="1050" dirty="0"/>
          </a:p>
        </p:txBody>
      </p:sp>
      <p:sp>
        <p:nvSpPr>
          <p:cNvPr id="9" name="Shape 6"/>
          <p:cNvSpPr/>
          <p:nvPr/>
        </p:nvSpPr>
        <p:spPr>
          <a:xfrm>
            <a:off x="2514600" y="2148840"/>
            <a:ext cx="3429000" cy="411480"/>
          </a:xfrm>
          <a:prstGeom prst="rect">
            <a:avLst/>
          </a:prstGeom>
          <a:solidFill>
            <a:srgbClr val="D9E1F2"/>
          </a:solidFill>
          <a:ln w="12700">
            <a:solidFill>
              <a:srgbClr val="FFFFFF"/>
            </a:solidFill>
            <a:prstDash val="solid"/>
          </a:ln>
        </p:spPr>
        <p:txBody>
          <a:bodyPr/>
          <a:lstStyle/>
          <a:p>
            <a:endParaRPr lang="ja-JP" altLang="en-US"/>
          </a:p>
        </p:txBody>
      </p:sp>
      <p:sp>
        <p:nvSpPr>
          <p:cNvPr id="10" name="Text 7"/>
          <p:cNvSpPr/>
          <p:nvPr/>
        </p:nvSpPr>
        <p:spPr>
          <a:xfrm>
            <a:off x="2587752" y="2148840"/>
            <a:ext cx="3282696" cy="411480"/>
          </a:xfrm>
          <a:prstGeom prst="rect">
            <a:avLst/>
          </a:prstGeom>
          <a:noFill/>
          <a:ln/>
        </p:spPr>
        <p:txBody>
          <a:bodyPr wrap="square"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相手方要望・確認事項</a:t>
            </a:r>
            <a:endParaRPr lang="en-US" sz="1050" dirty="0"/>
          </a:p>
        </p:txBody>
      </p:sp>
      <p:sp>
        <p:nvSpPr>
          <p:cNvPr id="11" name="Shape 8"/>
          <p:cNvSpPr/>
          <p:nvPr/>
        </p:nvSpPr>
        <p:spPr>
          <a:xfrm>
            <a:off x="5989320" y="2148840"/>
            <a:ext cx="3611880" cy="411480"/>
          </a:xfrm>
          <a:prstGeom prst="rect">
            <a:avLst/>
          </a:prstGeom>
          <a:solidFill>
            <a:srgbClr val="D9E1F2"/>
          </a:solidFill>
          <a:ln w="12700">
            <a:solidFill>
              <a:srgbClr val="FFFFFF"/>
            </a:solidFill>
            <a:prstDash val="solid"/>
          </a:ln>
        </p:spPr>
        <p:txBody>
          <a:bodyPr/>
          <a:lstStyle/>
          <a:p>
            <a:endParaRPr lang="ja-JP" altLang="en-US"/>
          </a:p>
        </p:txBody>
      </p:sp>
      <p:sp>
        <p:nvSpPr>
          <p:cNvPr id="12" name="Text 9"/>
          <p:cNvSpPr/>
          <p:nvPr/>
        </p:nvSpPr>
        <p:spPr>
          <a:xfrm>
            <a:off x="6062472" y="2148840"/>
            <a:ext cx="3465576" cy="411480"/>
          </a:xfrm>
          <a:prstGeom prst="rect">
            <a:avLst/>
          </a:prstGeom>
          <a:noFill/>
          <a:ln/>
        </p:spPr>
        <p:txBody>
          <a:bodyPr wrap="square"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自社回答・対応</a:t>
            </a:r>
            <a:endParaRPr lang="en-US" sz="1050" dirty="0"/>
          </a:p>
        </p:txBody>
      </p:sp>
      <p:sp>
        <p:nvSpPr>
          <p:cNvPr id="13" name="Shape 10"/>
          <p:cNvSpPr/>
          <p:nvPr/>
        </p:nvSpPr>
        <p:spPr>
          <a:xfrm>
            <a:off x="9692640" y="2148840"/>
            <a:ext cx="1097280" cy="411480"/>
          </a:xfrm>
          <a:prstGeom prst="rect">
            <a:avLst/>
          </a:prstGeom>
          <a:solidFill>
            <a:srgbClr val="D9E1F2"/>
          </a:solidFill>
          <a:ln w="12700">
            <a:solidFill>
              <a:srgbClr val="FFFFFF"/>
            </a:solidFill>
            <a:prstDash val="solid"/>
          </a:ln>
        </p:spPr>
        <p:txBody>
          <a:bodyPr/>
          <a:lstStyle/>
          <a:p>
            <a:endParaRPr lang="ja-JP" altLang="en-US"/>
          </a:p>
        </p:txBody>
      </p:sp>
      <p:sp>
        <p:nvSpPr>
          <p:cNvPr id="14" name="Text 11"/>
          <p:cNvSpPr/>
          <p:nvPr/>
        </p:nvSpPr>
        <p:spPr>
          <a:xfrm>
            <a:off x="9765792" y="2148840"/>
            <a:ext cx="950976" cy="41148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状態</a:t>
            </a:r>
            <a:endParaRPr lang="en-US" sz="1050" dirty="0"/>
          </a:p>
        </p:txBody>
      </p:sp>
      <p:sp>
        <p:nvSpPr>
          <p:cNvPr id="15" name="Shape 12"/>
          <p:cNvSpPr/>
          <p:nvPr/>
        </p:nvSpPr>
        <p:spPr>
          <a:xfrm>
            <a:off x="640080" y="2560320"/>
            <a:ext cx="1828800" cy="1143000"/>
          </a:xfrm>
          <a:prstGeom prst="rect">
            <a:avLst/>
          </a:prstGeom>
          <a:solidFill>
            <a:srgbClr val="FFFFFF"/>
          </a:solidFill>
          <a:ln w="12700">
            <a:solidFill>
              <a:srgbClr val="E1E6F2"/>
            </a:solidFill>
            <a:prstDash val="solid"/>
          </a:ln>
        </p:spPr>
        <p:txBody>
          <a:bodyPr/>
          <a:lstStyle/>
          <a:p>
            <a:endParaRPr lang="ja-JP" altLang="en-US"/>
          </a:p>
        </p:txBody>
      </p:sp>
      <p:sp>
        <p:nvSpPr>
          <p:cNvPr id="16" name="Text 13"/>
          <p:cNvSpPr/>
          <p:nvPr/>
        </p:nvSpPr>
        <p:spPr>
          <a:xfrm>
            <a:off x="713232" y="2560320"/>
            <a:ext cx="1682496" cy="1143000"/>
          </a:xfrm>
          <a:prstGeom prst="rect">
            <a:avLst/>
          </a:prstGeom>
          <a:noFill/>
          <a:ln/>
        </p:spPr>
        <p:txBody>
          <a:bodyPr wrap="square" rtlCol="0" anchor="ctr"/>
          <a:lstStyle/>
          <a:p>
            <a:pPr marL="0" indent="0" algn="l">
              <a:lnSpc>
                <a:spcPct val="115000"/>
              </a:lnSpc>
              <a:buNone/>
            </a:pPr>
            <a:r>
              <a:rPr lang="en-US" sz="1000" dirty="0">
                <a:solidFill>
                  <a:srgbClr val="36454F"/>
                </a:solidFill>
                <a:latin typeface="Calibri" pitchFamily="34" charset="0"/>
                <a:ea typeface="Calibri" pitchFamily="34" charset="-122"/>
                <a:cs typeface="Calibri" pitchFamily="34" charset="-120"/>
              </a:rPr>
              <a:t>絶縁抵抗値の確認</a:t>
            </a:r>
            <a:endParaRPr lang="en-US" sz="1000" dirty="0"/>
          </a:p>
        </p:txBody>
      </p:sp>
      <p:sp>
        <p:nvSpPr>
          <p:cNvPr id="17" name="Shape 14"/>
          <p:cNvSpPr/>
          <p:nvPr/>
        </p:nvSpPr>
        <p:spPr>
          <a:xfrm>
            <a:off x="2514600" y="2560320"/>
            <a:ext cx="3429000" cy="1143000"/>
          </a:xfrm>
          <a:prstGeom prst="rect">
            <a:avLst/>
          </a:prstGeom>
          <a:solidFill>
            <a:srgbClr val="FFFFFF"/>
          </a:solidFill>
          <a:ln w="12700">
            <a:solidFill>
              <a:srgbClr val="E1E6F2"/>
            </a:solidFill>
            <a:prstDash val="solid"/>
          </a:ln>
        </p:spPr>
        <p:txBody>
          <a:bodyPr/>
          <a:lstStyle/>
          <a:p>
            <a:endParaRPr lang="ja-JP" altLang="en-US"/>
          </a:p>
        </p:txBody>
      </p:sp>
      <p:sp>
        <p:nvSpPr>
          <p:cNvPr id="18" name="Text 15"/>
          <p:cNvSpPr/>
          <p:nvPr/>
        </p:nvSpPr>
        <p:spPr>
          <a:xfrm>
            <a:off x="2587752" y="2560320"/>
            <a:ext cx="3282696" cy="1143000"/>
          </a:xfrm>
          <a:prstGeom prst="rect">
            <a:avLst/>
          </a:prstGeom>
          <a:noFill/>
          <a:ln/>
        </p:spPr>
        <p:txBody>
          <a:bodyPr wrap="square" rtlCol="0" anchor="ctr"/>
          <a:lstStyle/>
          <a:p>
            <a:pPr marL="0" indent="0" algn="l">
              <a:lnSpc>
                <a:spcPct val="115000"/>
              </a:lnSpc>
              <a:buNone/>
            </a:pPr>
            <a:r>
              <a:rPr lang="en-US" sz="1000" dirty="0">
                <a:solidFill>
                  <a:srgbClr val="36454F"/>
                </a:solidFill>
                <a:latin typeface="Calibri" pitchFamily="34" charset="0"/>
                <a:ea typeface="Calibri" pitchFamily="34" charset="-122"/>
                <a:cs typeface="Calibri" pitchFamily="34" charset="-120"/>
              </a:rPr>
              <a:t>結果が基準値に近い数値であることへの懸念と確認の依頼。</a:t>
            </a:r>
            <a:endParaRPr lang="en-US" sz="1000" dirty="0"/>
          </a:p>
        </p:txBody>
      </p:sp>
      <p:sp>
        <p:nvSpPr>
          <p:cNvPr id="19" name="Shape 16"/>
          <p:cNvSpPr/>
          <p:nvPr/>
        </p:nvSpPr>
        <p:spPr>
          <a:xfrm>
            <a:off x="5989320" y="2560320"/>
            <a:ext cx="3611880" cy="1143000"/>
          </a:xfrm>
          <a:prstGeom prst="rect">
            <a:avLst/>
          </a:prstGeom>
          <a:solidFill>
            <a:srgbClr val="FFFFFF"/>
          </a:solidFill>
          <a:ln w="12700">
            <a:solidFill>
              <a:srgbClr val="E1E6F2"/>
            </a:solidFill>
            <a:prstDash val="solid"/>
          </a:ln>
        </p:spPr>
        <p:txBody>
          <a:bodyPr/>
          <a:lstStyle/>
          <a:p>
            <a:endParaRPr lang="ja-JP" altLang="en-US"/>
          </a:p>
        </p:txBody>
      </p:sp>
      <p:sp>
        <p:nvSpPr>
          <p:cNvPr id="20" name="Text 17"/>
          <p:cNvSpPr/>
          <p:nvPr/>
        </p:nvSpPr>
        <p:spPr>
          <a:xfrm>
            <a:off x="6062472" y="2560320"/>
            <a:ext cx="3465576" cy="1143000"/>
          </a:xfrm>
          <a:prstGeom prst="rect">
            <a:avLst/>
          </a:prstGeom>
          <a:noFill/>
          <a:ln/>
        </p:spPr>
        <p:txBody>
          <a:bodyPr wrap="square" rtlCol="0" anchor="ctr"/>
          <a:lstStyle/>
          <a:p>
            <a:pPr marL="0" indent="0" algn="l">
              <a:lnSpc>
                <a:spcPct val="115000"/>
              </a:lnSpc>
              <a:buNone/>
            </a:pPr>
            <a:r>
              <a:rPr lang="en-US" sz="1000" dirty="0">
                <a:solidFill>
                  <a:srgbClr val="36454F"/>
                </a:solidFill>
                <a:latin typeface="Calibri" pitchFamily="34" charset="0"/>
                <a:ea typeface="Calibri" pitchFamily="34" charset="-122"/>
                <a:cs typeface="Calibri" pitchFamily="34" charset="-120"/>
              </a:rPr>
              <a:t>技術部で再度確認し、性能上問題ないとの結論が出たため合意とします。</a:t>
            </a:r>
            <a:endParaRPr lang="en-US" sz="1000" dirty="0"/>
          </a:p>
        </p:txBody>
      </p:sp>
      <p:sp>
        <p:nvSpPr>
          <p:cNvPr id="21" name="Shape 18"/>
          <p:cNvSpPr/>
          <p:nvPr/>
        </p:nvSpPr>
        <p:spPr>
          <a:xfrm>
            <a:off x="9692640" y="2560320"/>
            <a:ext cx="1097280" cy="1143000"/>
          </a:xfrm>
          <a:prstGeom prst="rect">
            <a:avLst/>
          </a:prstGeom>
          <a:solidFill>
            <a:srgbClr val="FFFFFF"/>
          </a:solidFill>
          <a:ln w="12700">
            <a:solidFill>
              <a:srgbClr val="E1E6F2"/>
            </a:solidFill>
            <a:prstDash val="solid"/>
          </a:ln>
        </p:spPr>
        <p:txBody>
          <a:bodyPr/>
          <a:lstStyle/>
          <a:p>
            <a:endParaRPr lang="ja-JP" altLang="en-US"/>
          </a:p>
        </p:txBody>
      </p:sp>
      <p:sp>
        <p:nvSpPr>
          <p:cNvPr id="22" name="Text 19"/>
          <p:cNvSpPr/>
          <p:nvPr/>
        </p:nvSpPr>
        <p:spPr>
          <a:xfrm>
            <a:off x="9765792" y="2560320"/>
            <a:ext cx="950976" cy="1143000"/>
          </a:xfrm>
          <a:prstGeom prst="rect">
            <a:avLst/>
          </a:prstGeom>
          <a:noFill/>
          <a:ln/>
        </p:spPr>
        <p:txBody>
          <a:bodyPr wrap="square" rtlCol="0" anchor="ctr"/>
          <a:lstStyle/>
          <a:p>
            <a:pPr marL="0" indent="0" algn="ctr">
              <a:lnSpc>
                <a:spcPct val="115000"/>
              </a:lnSpc>
              <a:buNone/>
            </a:pPr>
            <a:r>
              <a:rPr lang="en-US" sz="1000" b="1" dirty="0">
                <a:solidFill>
                  <a:srgbClr val="1F9D6B"/>
                </a:solidFill>
                <a:latin typeface="Calibri" pitchFamily="34" charset="0"/>
                <a:ea typeface="Calibri" pitchFamily="34" charset="-122"/>
                <a:cs typeface="Calibri" pitchFamily="34" charset="-120"/>
              </a:rPr>
              <a:t>合意済み</a:t>
            </a:r>
            <a:endParaRPr lang="en-US" sz="1000" dirty="0"/>
          </a:p>
        </p:txBody>
      </p:sp>
      <p:sp>
        <p:nvSpPr>
          <p:cNvPr id="23" name="Shape 20"/>
          <p:cNvSpPr/>
          <p:nvPr/>
        </p:nvSpPr>
        <p:spPr>
          <a:xfrm>
            <a:off x="640080" y="3977640"/>
            <a:ext cx="502920" cy="502920"/>
          </a:xfrm>
          <a:prstGeom prst="ellipse">
            <a:avLst/>
          </a:prstGeom>
          <a:solidFill>
            <a:srgbClr val="1E2761"/>
          </a:solidFill>
          <a:ln/>
        </p:spPr>
        <p:txBody>
          <a:bodyPr/>
          <a:lstStyle/>
          <a:p>
            <a:endParaRPr lang="ja-JP" altLang="en-US"/>
          </a:p>
        </p:txBody>
      </p:sp>
      <p:pic>
        <p:nvPicPr>
          <p:cNvPr id="24" name="Image 1" descr="preencoded.png"/>
          <p:cNvPicPr>
            <a:picLocks noChangeAspect="1"/>
          </p:cNvPicPr>
          <p:nvPr/>
        </p:nvPicPr>
        <p:blipFill>
          <a:blip r:embed="rId4"/>
          <a:stretch>
            <a:fillRect/>
          </a:stretch>
        </p:blipFill>
        <p:spPr>
          <a:xfrm>
            <a:off x="765810" y="4103370"/>
            <a:ext cx="251460" cy="251460"/>
          </a:xfrm>
          <a:prstGeom prst="rect">
            <a:avLst/>
          </a:prstGeom>
        </p:spPr>
      </p:pic>
      <p:sp>
        <p:nvSpPr>
          <p:cNvPr id="25" name="Text 21"/>
          <p:cNvSpPr/>
          <p:nvPr/>
        </p:nvSpPr>
        <p:spPr>
          <a:xfrm>
            <a:off x="1280160" y="4005072"/>
            <a:ext cx="5486400" cy="45720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２．アクションアイテム（抜粋）</a:t>
            </a:r>
            <a:endParaRPr lang="en-US" sz="1450" dirty="0"/>
          </a:p>
        </p:txBody>
      </p:sp>
      <p:sp>
        <p:nvSpPr>
          <p:cNvPr id="26" name="Shape 22"/>
          <p:cNvSpPr/>
          <p:nvPr/>
        </p:nvSpPr>
        <p:spPr>
          <a:xfrm>
            <a:off x="640080" y="4526280"/>
            <a:ext cx="6583680" cy="411480"/>
          </a:xfrm>
          <a:prstGeom prst="rect">
            <a:avLst/>
          </a:prstGeom>
          <a:solidFill>
            <a:srgbClr val="D9E1F2"/>
          </a:solidFill>
          <a:ln w="12700">
            <a:solidFill>
              <a:srgbClr val="FFFFFF"/>
            </a:solidFill>
            <a:prstDash val="solid"/>
          </a:ln>
        </p:spPr>
        <p:txBody>
          <a:bodyPr/>
          <a:lstStyle/>
          <a:p>
            <a:endParaRPr lang="ja-JP" altLang="en-US"/>
          </a:p>
        </p:txBody>
      </p:sp>
      <p:sp>
        <p:nvSpPr>
          <p:cNvPr id="27" name="Text 23"/>
          <p:cNvSpPr/>
          <p:nvPr/>
        </p:nvSpPr>
        <p:spPr>
          <a:xfrm>
            <a:off x="713232" y="4526280"/>
            <a:ext cx="6437376" cy="411480"/>
          </a:xfrm>
          <a:prstGeom prst="rect">
            <a:avLst/>
          </a:prstGeom>
          <a:noFill/>
          <a:ln/>
        </p:spPr>
        <p:txBody>
          <a:bodyPr wrap="square"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対応内容</a:t>
            </a:r>
            <a:endParaRPr lang="en-US" sz="1050" dirty="0"/>
          </a:p>
        </p:txBody>
      </p:sp>
      <p:sp>
        <p:nvSpPr>
          <p:cNvPr id="28" name="Shape 24"/>
          <p:cNvSpPr/>
          <p:nvPr/>
        </p:nvSpPr>
        <p:spPr>
          <a:xfrm>
            <a:off x="7223760" y="4526280"/>
            <a:ext cx="1828800" cy="411480"/>
          </a:xfrm>
          <a:prstGeom prst="rect">
            <a:avLst/>
          </a:prstGeom>
          <a:solidFill>
            <a:srgbClr val="D9E1F2"/>
          </a:solidFill>
          <a:ln w="12700">
            <a:solidFill>
              <a:srgbClr val="FFFFFF"/>
            </a:solidFill>
            <a:prstDash val="solid"/>
          </a:ln>
        </p:spPr>
        <p:txBody>
          <a:bodyPr/>
          <a:lstStyle/>
          <a:p>
            <a:endParaRPr lang="ja-JP" altLang="en-US"/>
          </a:p>
        </p:txBody>
      </p:sp>
      <p:sp>
        <p:nvSpPr>
          <p:cNvPr id="29" name="Text 25"/>
          <p:cNvSpPr/>
          <p:nvPr/>
        </p:nvSpPr>
        <p:spPr>
          <a:xfrm>
            <a:off x="7296912" y="4526280"/>
            <a:ext cx="1682496" cy="41148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担当</a:t>
            </a:r>
            <a:endParaRPr lang="en-US" sz="1050" dirty="0"/>
          </a:p>
        </p:txBody>
      </p:sp>
      <p:sp>
        <p:nvSpPr>
          <p:cNvPr id="30" name="Shape 26"/>
          <p:cNvSpPr/>
          <p:nvPr/>
        </p:nvSpPr>
        <p:spPr>
          <a:xfrm>
            <a:off x="9052560" y="4526280"/>
            <a:ext cx="1737360" cy="411480"/>
          </a:xfrm>
          <a:prstGeom prst="rect">
            <a:avLst/>
          </a:prstGeom>
          <a:solidFill>
            <a:srgbClr val="D9E1F2"/>
          </a:solidFill>
          <a:ln w="12700">
            <a:solidFill>
              <a:srgbClr val="FFFFFF"/>
            </a:solidFill>
            <a:prstDash val="solid"/>
          </a:ln>
        </p:spPr>
        <p:txBody>
          <a:bodyPr/>
          <a:lstStyle/>
          <a:p>
            <a:endParaRPr lang="ja-JP" altLang="en-US"/>
          </a:p>
        </p:txBody>
      </p:sp>
      <p:sp>
        <p:nvSpPr>
          <p:cNvPr id="31" name="Text 27"/>
          <p:cNvSpPr/>
          <p:nvPr/>
        </p:nvSpPr>
        <p:spPr>
          <a:xfrm>
            <a:off x="9125712" y="4526280"/>
            <a:ext cx="1591056" cy="411480"/>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期限</a:t>
            </a:r>
            <a:endParaRPr lang="en-US" sz="1050" dirty="0"/>
          </a:p>
        </p:txBody>
      </p:sp>
      <p:sp>
        <p:nvSpPr>
          <p:cNvPr id="32" name="Shape 28"/>
          <p:cNvSpPr/>
          <p:nvPr/>
        </p:nvSpPr>
        <p:spPr>
          <a:xfrm>
            <a:off x="640080" y="4937760"/>
            <a:ext cx="6583680" cy="685800"/>
          </a:xfrm>
          <a:prstGeom prst="rect">
            <a:avLst/>
          </a:prstGeom>
          <a:solidFill>
            <a:srgbClr val="FFFFFF"/>
          </a:solidFill>
          <a:ln w="12700">
            <a:solidFill>
              <a:srgbClr val="E1E6F2"/>
            </a:solidFill>
            <a:prstDash val="solid"/>
          </a:ln>
        </p:spPr>
        <p:txBody>
          <a:bodyPr/>
          <a:lstStyle/>
          <a:p>
            <a:endParaRPr lang="ja-JP" altLang="en-US"/>
          </a:p>
        </p:txBody>
      </p:sp>
      <p:sp>
        <p:nvSpPr>
          <p:cNvPr id="33" name="Text 29"/>
          <p:cNvSpPr/>
          <p:nvPr/>
        </p:nvSpPr>
        <p:spPr>
          <a:xfrm>
            <a:off x="713232" y="4937760"/>
            <a:ext cx="6437376" cy="685800"/>
          </a:xfrm>
          <a:prstGeom prst="rect">
            <a:avLst/>
          </a:prstGeom>
          <a:noFill/>
          <a:ln/>
        </p:spPr>
        <p:txBody>
          <a:bodyPr wrap="square" rtlCol="0" anchor="ctr"/>
          <a:lstStyle/>
          <a:p>
            <a:pPr marL="0" indent="0" algn="l">
              <a:lnSpc>
                <a:spcPct val="110000"/>
              </a:lnSpc>
              <a:buNone/>
            </a:pPr>
            <a:r>
              <a:rPr lang="en-US" sz="1050" dirty="0">
                <a:solidFill>
                  <a:srgbClr val="36454F"/>
                </a:solidFill>
                <a:latin typeface="Calibri" pitchFamily="34" charset="0"/>
                <a:ea typeface="Calibri" pitchFamily="34" charset="-122"/>
                <a:cs typeface="Calibri" pitchFamily="34" charset="-120"/>
              </a:rPr>
              <a:t>表示灯を緑色に交換する（7月10日までに完了させること）</a:t>
            </a:r>
            <a:endParaRPr lang="en-US" sz="1050" dirty="0"/>
          </a:p>
        </p:txBody>
      </p:sp>
      <p:sp>
        <p:nvSpPr>
          <p:cNvPr id="34" name="Shape 30"/>
          <p:cNvSpPr/>
          <p:nvPr/>
        </p:nvSpPr>
        <p:spPr>
          <a:xfrm>
            <a:off x="7223760" y="4937760"/>
            <a:ext cx="1828800" cy="685800"/>
          </a:xfrm>
          <a:prstGeom prst="rect">
            <a:avLst/>
          </a:prstGeom>
          <a:solidFill>
            <a:srgbClr val="FFFFFF"/>
          </a:solidFill>
          <a:ln w="12700">
            <a:solidFill>
              <a:srgbClr val="E1E6F2"/>
            </a:solidFill>
            <a:prstDash val="solid"/>
          </a:ln>
        </p:spPr>
        <p:txBody>
          <a:bodyPr/>
          <a:lstStyle/>
          <a:p>
            <a:endParaRPr lang="ja-JP" altLang="en-US"/>
          </a:p>
        </p:txBody>
      </p:sp>
      <p:sp>
        <p:nvSpPr>
          <p:cNvPr id="35" name="Text 31"/>
          <p:cNvSpPr/>
          <p:nvPr/>
        </p:nvSpPr>
        <p:spPr>
          <a:xfrm>
            <a:off x="7296912" y="4937760"/>
            <a:ext cx="1682496" cy="685800"/>
          </a:xfrm>
          <a:prstGeom prst="rect">
            <a:avLst/>
          </a:prstGeom>
          <a:noFill/>
          <a:ln/>
        </p:spPr>
        <p:txBody>
          <a:bodyPr wrap="square" rtlCol="0" anchor="ctr"/>
          <a:lstStyle/>
          <a:p>
            <a:pPr marL="0" indent="0" algn="ctr">
              <a:lnSpc>
                <a:spcPct val="110000"/>
              </a:lnSpc>
              <a:buNone/>
            </a:pPr>
            <a:r>
              <a:rPr lang="en-US" sz="1050" dirty="0">
                <a:solidFill>
                  <a:srgbClr val="36454F"/>
                </a:solidFill>
                <a:latin typeface="Calibri" pitchFamily="34" charset="0"/>
                <a:ea typeface="Calibri" pitchFamily="34" charset="-122"/>
                <a:cs typeface="Calibri" pitchFamily="34" charset="-120"/>
              </a:rPr>
              <a:t>自社</a:t>
            </a:r>
            <a:endParaRPr lang="en-US" sz="1050" dirty="0"/>
          </a:p>
        </p:txBody>
      </p:sp>
      <p:sp>
        <p:nvSpPr>
          <p:cNvPr id="36" name="Shape 32"/>
          <p:cNvSpPr/>
          <p:nvPr/>
        </p:nvSpPr>
        <p:spPr>
          <a:xfrm>
            <a:off x="9052560" y="4937760"/>
            <a:ext cx="1737360" cy="685800"/>
          </a:xfrm>
          <a:prstGeom prst="rect">
            <a:avLst/>
          </a:prstGeom>
          <a:solidFill>
            <a:srgbClr val="FFFFFF"/>
          </a:solidFill>
          <a:ln w="12700">
            <a:solidFill>
              <a:srgbClr val="E1E6F2"/>
            </a:solidFill>
            <a:prstDash val="solid"/>
          </a:ln>
        </p:spPr>
        <p:txBody>
          <a:bodyPr/>
          <a:lstStyle/>
          <a:p>
            <a:endParaRPr lang="ja-JP" altLang="en-US"/>
          </a:p>
        </p:txBody>
      </p:sp>
      <p:sp>
        <p:nvSpPr>
          <p:cNvPr id="37" name="Text 33"/>
          <p:cNvSpPr/>
          <p:nvPr/>
        </p:nvSpPr>
        <p:spPr>
          <a:xfrm>
            <a:off x="9125712" y="4937760"/>
            <a:ext cx="1591056" cy="685800"/>
          </a:xfrm>
          <a:prstGeom prst="rect">
            <a:avLst/>
          </a:prstGeom>
          <a:noFill/>
          <a:ln/>
        </p:spPr>
        <p:txBody>
          <a:bodyPr wrap="square" rtlCol="0" anchor="ctr"/>
          <a:lstStyle/>
          <a:p>
            <a:pPr marL="0" indent="0" algn="ctr">
              <a:lnSpc>
                <a:spcPct val="110000"/>
              </a:lnSpc>
              <a:buNone/>
            </a:pPr>
            <a:r>
              <a:rPr lang="en-US" sz="1050" dirty="0">
                <a:solidFill>
                  <a:srgbClr val="36454F"/>
                </a:solidFill>
                <a:latin typeface="Calibri" pitchFamily="34" charset="0"/>
                <a:ea typeface="Calibri" pitchFamily="34" charset="-122"/>
                <a:cs typeface="Calibri" pitchFamily="34" charset="-120"/>
              </a:rPr>
              <a:t>2026年07月10日</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現状のテスト結果</a:t>
            </a:r>
            <a:endParaRPr lang="en-US" sz="30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350" dirty="0">
                <a:solidFill>
                  <a:srgbClr val="6B7690"/>
                </a:solidFill>
                <a:latin typeface="Calibri" pitchFamily="34" charset="0"/>
                <a:ea typeface="Calibri" pitchFamily="34" charset="-122"/>
                <a:cs typeface="Calibri" pitchFamily="34" charset="-120"/>
              </a:rPr>
              <a:t>配電盤立会試験を模した約9分間の音声で、繰り返し検証した結果です(合成音声によるテスト)</a:t>
            </a:r>
            <a:endParaRPr lang="en-US" sz="1350" dirty="0"/>
          </a:p>
        </p:txBody>
      </p:sp>
      <p:sp>
        <p:nvSpPr>
          <p:cNvPr id="4" name="Shape 2"/>
          <p:cNvSpPr/>
          <p:nvPr/>
        </p:nvSpPr>
        <p:spPr>
          <a:xfrm>
            <a:off x="640080" y="1828800"/>
            <a:ext cx="2606040" cy="32918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5" name="Text 3"/>
          <p:cNvSpPr/>
          <p:nvPr/>
        </p:nvSpPr>
        <p:spPr>
          <a:xfrm>
            <a:off x="804672" y="2057400"/>
            <a:ext cx="2276856" cy="77724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文字起こしの誤り率</a:t>
            </a:r>
            <a:endParaRPr lang="en-US" sz="1300" dirty="0"/>
          </a:p>
        </p:txBody>
      </p:sp>
      <p:sp>
        <p:nvSpPr>
          <p:cNvPr id="6" name="Text 4"/>
          <p:cNvSpPr/>
          <p:nvPr/>
        </p:nvSpPr>
        <p:spPr>
          <a:xfrm>
            <a:off x="804672" y="2971800"/>
            <a:ext cx="2276856" cy="868680"/>
          </a:xfrm>
          <a:prstGeom prst="rect">
            <a:avLst/>
          </a:prstGeom>
          <a:noFill/>
          <a:ln/>
        </p:spPr>
        <p:txBody>
          <a:bodyPr wrap="square" rtlCol="0" anchor="ctr"/>
          <a:lstStyle/>
          <a:p>
            <a:pPr marL="0" indent="0" algn="ctr">
              <a:buNone/>
            </a:pPr>
            <a:r>
              <a:rPr lang="en-US" sz="3400" b="1" dirty="0">
                <a:solidFill>
                  <a:srgbClr val="1F9D6B"/>
                </a:solidFill>
                <a:latin typeface="Georgia" pitchFamily="34" charset="0"/>
                <a:ea typeface="Georgia" pitchFamily="34" charset="-122"/>
                <a:cs typeface="Georgia" pitchFamily="34" charset="-120"/>
              </a:rPr>
              <a:t>15.1%</a:t>
            </a:r>
            <a:endParaRPr lang="en-US" sz="3400" dirty="0"/>
          </a:p>
        </p:txBody>
      </p:sp>
      <p:sp>
        <p:nvSpPr>
          <p:cNvPr id="7" name="Shape 5"/>
          <p:cNvSpPr/>
          <p:nvPr/>
        </p:nvSpPr>
        <p:spPr>
          <a:xfrm>
            <a:off x="1097280" y="3977640"/>
            <a:ext cx="1691640" cy="0"/>
          </a:xfrm>
          <a:prstGeom prst="line">
            <a:avLst/>
          </a:prstGeom>
          <a:noFill/>
          <a:ln w="12700">
            <a:solidFill>
              <a:srgbClr val="E1E6F2"/>
            </a:solidFill>
            <a:prstDash val="solid"/>
          </a:ln>
        </p:spPr>
        <p:txBody>
          <a:bodyPr/>
          <a:lstStyle/>
          <a:p>
            <a:endParaRPr lang="ja-JP" altLang="en-US"/>
          </a:p>
        </p:txBody>
      </p:sp>
      <p:sp>
        <p:nvSpPr>
          <p:cNvPr id="8" name="Text 6"/>
          <p:cNvSpPr/>
          <p:nvPr/>
        </p:nvSpPr>
        <p:spPr>
          <a:xfrm>
            <a:off x="804672" y="4160520"/>
            <a:ext cx="2276856" cy="822960"/>
          </a:xfrm>
          <a:prstGeom prst="rect">
            <a:avLst/>
          </a:prstGeom>
          <a:noFill/>
          <a:ln/>
        </p:spPr>
        <p:txBody>
          <a:bodyPr wrap="square" rtlCol="0" anchor="ctr"/>
          <a:lstStyle/>
          <a:p>
            <a:pPr marL="0" indent="0" algn="ctr">
              <a:lnSpc>
                <a:spcPct val="125000"/>
              </a:lnSpc>
              <a:buNone/>
            </a:pPr>
            <a:r>
              <a:rPr lang="en-US" sz="1000" i="1" dirty="0">
                <a:solidFill>
                  <a:srgbClr val="6B7690"/>
                </a:solidFill>
                <a:latin typeface="Calibri" pitchFamily="34" charset="0"/>
                <a:ea typeface="Calibri" pitchFamily="34" charset="-122"/>
                <a:cs typeface="Calibri" pitchFamily="34" charset="-120"/>
              </a:rPr>
              <a:t>5秒区切りの認識誤りが主因</a:t>
            </a:r>
            <a:endParaRPr lang="en-US" sz="1000" dirty="0"/>
          </a:p>
        </p:txBody>
      </p:sp>
      <p:sp>
        <p:nvSpPr>
          <p:cNvPr id="9" name="Shape 7"/>
          <p:cNvSpPr/>
          <p:nvPr/>
        </p:nvSpPr>
        <p:spPr>
          <a:xfrm>
            <a:off x="3447288" y="1828800"/>
            <a:ext cx="2606040" cy="32918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0" name="Text 8"/>
          <p:cNvSpPr/>
          <p:nvPr/>
        </p:nvSpPr>
        <p:spPr>
          <a:xfrm>
            <a:off x="3611880" y="2057400"/>
            <a:ext cx="2276856" cy="77724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協議事項の再現率</a:t>
            </a:r>
            <a:endParaRPr lang="en-US" sz="1300" dirty="0"/>
          </a:p>
        </p:txBody>
      </p:sp>
      <p:sp>
        <p:nvSpPr>
          <p:cNvPr id="11" name="Text 9"/>
          <p:cNvSpPr/>
          <p:nvPr/>
        </p:nvSpPr>
        <p:spPr>
          <a:xfrm>
            <a:off x="3611880" y="2971800"/>
            <a:ext cx="2276856" cy="868680"/>
          </a:xfrm>
          <a:prstGeom prst="rect">
            <a:avLst/>
          </a:prstGeom>
          <a:noFill/>
          <a:ln/>
        </p:spPr>
        <p:txBody>
          <a:bodyPr wrap="square" rtlCol="0" anchor="ctr"/>
          <a:lstStyle/>
          <a:p>
            <a:pPr marL="0" indent="0" algn="ctr">
              <a:buNone/>
            </a:pPr>
            <a:r>
              <a:rPr lang="en-US" sz="3400" b="1" dirty="0">
                <a:solidFill>
                  <a:srgbClr val="1F9D6B"/>
                </a:solidFill>
                <a:latin typeface="Georgia" pitchFamily="34" charset="0"/>
                <a:ea typeface="Georgia" pitchFamily="34" charset="-122"/>
                <a:cs typeface="Georgia" pitchFamily="34" charset="-120"/>
              </a:rPr>
              <a:t>100%</a:t>
            </a:r>
            <a:endParaRPr lang="en-US" sz="3400" dirty="0"/>
          </a:p>
        </p:txBody>
      </p:sp>
      <p:sp>
        <p:nvSpPr>
          <p:cNvPr id="12" name="Shape 10"/>
          <p:cNvSpPr/>
          <p:nvPr/>
        </p:nvSpPr>
        <p:spPr>
          <a:xfrm>
            <a:off x="3904488" y="3977640"/>
            <a:ext cx="1691640" cy="0"/>
          </a:xfrm>
          <a:prstGeom prst="line">
            <a:avLst/>
          </a:prstGeom>
          <a:noFill/>
          <a:ln w="12700">
            <a:solidFill>
              <a:srgbClr val="E1E6F2"/>
            </a:solidFill>
            <a:prstDash val="solid"/>
          </a:ln>
        </p:spPr>
        <p:txBody>
          <a:bodyPr/>
          <a:lstStyle/>
          <a:p>
            <a:endParaRPr lang="ja-JP" altLang="en-US"/>
          </a:p>
        </p:txBody>
      </p:sp>
      <p:sp>
        <p:nvSpPr>
          <p:cNvPr id="13" name="Text 11"/>
          <p:cNvSpPr/>
          <p:nvPr/>
        </p:nvSpPr>
        <p:spPr>
          <a:xfrm>
            <a:off x="3611880" y="4160520"/>
            <a:ext cx="2276856" cy="822960"/>
          </a:xfrm>
          <a:prstGeom prst="rect">
            <a:avLst/>
          </a:prstGeom>
          <a:noFill/>
          <a:ln/>
        </p:spPr>
        <p:txBody>
          <a:bodyPr wrap="square" rtlCol="0" anchor="ctr"/>
          <a:lstStyle/>
          <a:p>
            <a:pPr marL="0" indent="0" algn="ctr">
              <a:lnSpc>
                <a:spcPct val="125000"/>
              </a:lnSpc>
              <a:buNone/>
            </a:pPr>
            <a:r>
              <a:rPr lang="en-US" sz="1000" i="1" dirty="0">
                <a:solidFill>
                  <a:srgbClr val="6B7690"/>
                </a:solidFill>
                <a:latin typeface="Calibri" pitchFamily="34" charset="0"/>
                <a:ea typeface="Calibri" pitchFamily="34" charset="-122"/>
                <a:cs typeface="Calibri" pitchFamily="34" charset="-120"/>
              </a:rPr>
              <a:t>議題・状態とも正確に記録</a:t>
            </a:r>
            <a:endParaRPr lang="en-US" sz="1000" dirty="0"/>
          </a:p>
        </p:txBody>
      </p:sp>
      <p:sp>
        <p:nvSpPr>
          <p:cNvPr id="14" name="Shape 12"/>
          <p:cNvSpPr/>
          <p:nvPr/>
        </p:nvSpPr>
        <p:spPr>
          <a:xfrm>
            <a:off x="6254496" y="1828800"/>
            <a:ext cx="2606040" cy="32918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5" name="Text 13"/>
          <p:cNvSpPr/>
          <p:nvPr/>
        </p:nvSpPr>
        <p:spPr>
          <a:xfrm>
            <a:off x="6419088" y="2057400"/>
            <a:ext cx="2276856" cy="77724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アクションの再現率</a:t>
            </a:r>
            <a:endParaRPr lang="en-US" sz="1300" dirty="0"/>
          </a:p>
        </p:txBody>
      </p:sp>
      <p:sp>
        <p:nvSpPr>
          <p:cNvPr id="16" name="Text 14"/>
          <p:cNvSpPr/>
          <p:nvPr/>
        </p:nvSpPr>
        <p:spPr>
          <a:xfrm>
            <a:off x="6419088" y="2971800"/>
            <a:ext cx="2276856" cy="868680"/>
          </a:xfrm>
          <a:prstGeom prst="rect">
            <a:avLst/>
          </a:prstGeom>
          <a:noFill/>
          <a:ln/>
        </p:spPr>
        <p:txBody>
          <a:bodyPr wrap="square" rtlCol="0" anchor="ctr"/>
          <a:lstStyle/>
          <a:p>
            <a:pPr marL="0" indent="0" algn="ctr">
              <a:buNone/>
            </a:pPr>
            <a:r>
              <a:rPr lang="en-US" sz="3400" b="1" dirty="0">
                <a:solidFill>
                  <a:srgbClr val="1F9D6B"/>
                </a:solidFill>
                <a:latin typeface="Georgia" pitchFamily="34" charset="0"/>
                <a:ea typeface="Georgia" pitchFamily="34" charset="-122"/>
                <a:cs typeface="Georgia" pitchFamily="34" charset="-120"/>
              </a:rPr>
              <a:t>100%</a:t>
            </a:r>
            <a:endParaRPr lang="en-US" sz="3400" dirty="0"/>
          </a:p>
        </p:txBody>
      </p:sp>
      <p:sp>
        <p:nvSpPr>
          <p:cNvPr id="17" name="Shape 15"/>
          <p:cNvSpPr/>
          <p:nvPr/>
        </p:nvSpPr>
        <p:spPr>
          <a:xfrm>
            <a:off x="6711696" y="3977640"/>
            <a:ext cx="1691640" cy="0"/>
          </a:xfrm>
          <a:prstGeom prst="line">
            <a:avLst/>
          </a:prstGeom>
          <a:noFill/>
          <a:ln w="12700">
            <a:solidFill>
              <a:srgbClr val="E1E6F2"/>
            </a:solidFill>
            <a:prstDash val="solid"/>
          </a:ln>
        </p:spPr>
        <p:txBody>
          <a:bodyPr/>
          <a:lstStyle/>
          <a:p>
            <a:endParaRPr lang="ja-JP" altLang="en-US"/>
          </a:p>
        </p:txBody>
      </p:sp>
      <p:sp>
        <p:nvSpPr>
          <p:cNvPr id="18" name="Text 16"/>
          <p:cNvSpPr/>
          <p:nvPr/>
        </p:nvSpPr>
        <p:spPr>
          <a:xfrm>
            <a:off x="6419088" y="4160520"/>
            <a:ext cx="2276856" cy="822960"/>
          </a:xfrm>
          <a:prstGeom prst="rect">
            <a:avLst/>
          </a:prstGeom>
          <a:noFill/>
          <a:ln/>
        </p:spPr>
        <p:txBody>
          <a:bodyPr wrap="square" rtlCol="0" anchor="ctr"/>
          <a:lstStyle/>
          <a:p>
            <a:pPr marL="0" indent="0" algn="ctr">
              <a:lnSpc>
                <a:spcPct val="125000"/>
              </a:lnSpc>
              <a:buNone/>
            </a:pPr>
            <a:r>
              <a:rPr lang="en-US" sz="1000" i="1" dirty="0">
                <a:solidFill>
                  <a:srgbClr val="6B7690"/>
                </a:solidFill>
                <a:latin typeface="Calibri" pitchFamily="34" charset="0"/>
                <a:ea typeface="Calibri" pitchFamily="34" charset="-122"/>
                <a:cs typeface="Calibri" pitchFamily="34" charset="-120"/>
              </a:rPr>
              <a:t>担当・期限も正確に記録</a:t>
            </a:r>
            <a:endParaRPr lang="en-US" sz="1000" dirty="0"/>
          </a:p>
        </p:txBody>
      </p:sp>
      <p:sp>
        <p:nvSpPr>
          <p:cNvPr id="19" name="Shape 17"/>
          <p:cNvSpPr/>
          <p:nvPr/>
        </p:nvSpPr>
        <p:spPr>
          <a:xfrm>
            <a:off x="9061704" y="1828800"/>
            <a:ext cx="2606040" cy="32918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20" name="Text 18"/>
          <p:cNvSpPr/>
          <p:nvPr/>
        </p:nvSpPr>
        <p:spPr>
          <a:xfrm>
            <a:off x="9226296" y="2057400"/>
            <a:ext cx="2276856" cy="77724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話者判定の精度</a:t>
            </a:r>
            <a:endParaRPr lang="en-US" sz="1300" dirty="0"/>
          </a:p>
        </p:txBody>
      </p:sp>
      <p:sp>
        <p:nvSpPr>
          <p:cNvPr id="21" name="Text 19"/>
          <p:cNvSpPr/>
          <p:nvPr/>
        </p:nvSpPr>
        <p:spPr>
          <a:xfrm>
            <a:off x="9226296" y="2971800"/>
            <a:ext cx="2276856" cy="868680"/>
          </a:xfrm>
          <a:prstGeom prst="rect">
            <a:avLst/>
          </a:prstGeom>
          <a:noFill/>
          <a:ln/>
        </p:spPr>
        <p:txBody>
          <a:bodyPr wrap="square" rtlCol="0" anchor="ctr"/>
          <a:lstStyle/>
          <a:p>
            <a:pPr marL="0" indent="0" algn="ctr">
              <a:buNone/>
            </a:pPr>
            <a:r>
              <a:rPr lang="en-US" sz="3400" b="1" dirty="0">
                <a:solidFill>
                  <a:srgbClr val="C97A1E"/>
                </a:solidFill>
                <a:latin typeface="Georgia" pitchFamily="34" charset="0"/>
                <a:ea typeface="Georgia" pitchFamily="34" charset="-122"/>
                <a:cs typeface="Georgia" pitchFamily="34" charset="-120"/>
              </a:rPr>
              <a:t>60.4%</a:t>
            </a:r>
            <a:endParaRPr lang="en-US" sz="3400" dirty="0"/>
          </a:p>
        </p:txBody>
      </p:sp>
      <p:sp>
        <p:nvSpPr>
          <p:cNvPr id="22" name="Shape 20"/>
          <p:cNvSpPr/>
          <p:nvPr/>
        </p:nvSpPr>
        <p:spPr>
          <a:xfrm>
            <a:off x="9518904" y="3977640"/>
            <a:ext cx="1691640" cy="0"/>
          </a:xfrm>
          <a:prstGeom prst="line">
            <a:avLst/>
          </a:prstGeom>
          <a:noFill/>
          <a:ln w="12700">
            <a:solidFill>
              <a:srgbClr val="E1E6F2"/>
            </a:solidFill>
            <a:prstDash val="solid"/>
          </a:ln>
        </p:spPr>
        <p:txBody>
          <a:bodyPr/>
          <a:lstStyle/>
          <a:p>
            <a:endParaRPr lang="ja-JP" altLang="en-US"/>
          </a:p>
        </p:txBody>
      </p:sp>
      <p:sp>
        <p:nvSpPr>
          <p:cNvPr id="23" name="Text 21"/>
          <p:cNvSpPr/>
          <p:nvPr/>
        </p:nvSpPr>
        <p:spPr>
          <a:xfrm>
            <a:off x="9226296" y="4160520"/>
            <a:ext cx="2276856" cy="822960"/>
          </a:xfrm>
          <a:prstGeom prst="rect">
            <a:avLst/>
          </a:prstGeom>
          <a:noFill/>
          <a:ln/>
        </p:spPr>
        <p:txBody>
          <a:bodyPr wrap="square" rtlCol="0" anchor="ctr"/>
          <a:lstStyle/>
          <a:p>
            <a:pPr marL="0" indent="0" algn="ctr">
              <a:lnSpc>
                <a:spcPct val="125000"/>
              </a:lnSpc>
              <a:buNone/>
            </a:pPr>
            <a:r>
              <a:rPr lang="en-US" sz="1000" i="1" dirty="0">
                <a:solidFill>
                  <a:srgbClr val="6B7690"/>
                </a:solidFill>
                <a:latin typeface="Calibri" pitchFamily="34" charset="0"/>
                <a:ea typeface="Calibri" pitchFamily="34" charset="-122"/>
                <a:cs typeface="Calibri" pitchFamily="34" charset="-120"/>
              </a:rPr>
              <a:t>自社側1名分の判定に限界あり(P.10)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現状の課題：工場騒音対策</a:t>
            </a:r>
            <a:endParaRPr lang="en-US" sz="3000" dirty="0"/>
          </a:p>
        </p:txBody>
      </p:sp>
      <p:sp>
        <p:nvSpPr>
          <p:cNvPr id="3" name="Shape 1"/>
          <p:cNvSpPr/>
          <p:nvPr/>
        </p:nvSpPr>
        <p:spPr>
          <a:xfrm>
            <a:off x="640080" y="1417320"/>
            <a:ext cx="10881360" cy="1051560"/>
          </a:xfrm>
          <a:prstGeom prst="rect">
            <a:avLst/>
          </a:prstGeom>
          <a:solidFill>
            <a:srgbClr val="1E2761"/>
          </a:solidFill>
          <a:ln/>
        </p:spPr>
        <p:txBody>
          <a:bodyPr/>
          <a:lstStyle/>
          <a:p>
            <a:endParaRPr lang="ja-JP" altLang="en-US"/>
          </a:p>
        </p:txBody>
      </p:sp>
      <p:sp>
        <p:nvSpPr>
          <p:cNvPr id="4" name="Shape 2"/>
          <p:cNvSpPr/>
          <p:nvPr/>
        </p:nvSpPr>
        <p:spPr>
          <a:xfrm>
            <a:off x="914400" y="1645920"/>
            <a:ext cx="594360" cy="594360"/>
          </a:xfrm>
          <a:prstGeom prst="ellipse">
            <a:avLst/>
          </a:prstGeom>
          <a:solidFill>
            <a:srgbClr val="324391"/>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062990" y="1794510"/>
            <a:ext cx="297180" cy="297180"/>
          </a:xfrm>
          <a:prstGeom prst="rect">
            <a:avLst/>
          </a:prstGeom>
        </p:spPr>
      </p:pic>
      <p:sp>
        <p:nvSpPr>
          <p:cNvPr id="6" name="Text 3"/>
          <p:cNvSpPr/>
          <p:nvPr/>
        </p:nvSpPr>
        <p:spPr>
          <a:xfrm>
            <a:off x="1691640" y="1417320"/>
            <a:ext cx="9509760" cy="10515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実際の工場環境での認識精度は、まだ検証できていません</a:t>
            </a:r>
            <a:endParaRPr lang="en-US" sz="1500" dirty="0"/>
          </a:p>
        </p:txBody>
      </p:sp>
      <p:sp>
        <p:nvSpPr>
          <p:cNvPr id="7" name="Text 4"/>
          <p:cNvSpPr/>
          <p:nvPr/>
        </p:nvSpPr>
        <p:spPr>
          <a:xfrm>
            <a:off x="640080" y="2743200"/>
            <a:ext cx="54864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背景</a:t>
            </a:r>
            <a:endParaRPr lang="en-US" sz="1400" dirty="0"/>
          </a:p>
        </p:txBody>
      </p:sp>
      <p:sp>
        <p:nvSpPr>
          <p:cNvPr id="8" name="Text 5"/>
          <p:cNvSpPr/>
          <p:nvPr/>
        </p:nvSpPr>
        <p:spPr>
          <a:xfrm>
            <a:off x="640080" y="3108960"/>
            <a:ext cx="10607040" cy="1645920"/>
          </a:xfrm>
          <a:prstGeom prst="rect">
            <a:avLst/>
          </a:prstGeom>
          <a:noFill/>
          <a:ln/>
        </p:spPr>
        <p:txBody>
          <a:bodyPr wrap="square" rtlCol="0" anchor="ctr"/>
          <a:lstStyle/>
          <a:p>
            <a:pPr marL="342900" indent="-342900">
              <a:lnSpc>
                <a:spcPct val="130000"/>
              </a:lnSpc>
              <a:spcAft>
                <a:spcPts val="1200"/>
              </a:spcAft>
              <a:buSzPct val="100000"/>
              <a:buChar char="•"/>
            </a:pPr>
            <a:r>
              <a:rPr lang="en-US" sz="1400" dirty="0" err="1">
                <a:solidFill>
                  <a:srgbClr val="36454F"/>
                </a:solidFill>
                <a:latin typeface="Calibri" pitchFamily="34" charset="0"/>
                <a:ea typeface="Calibri" pitchFamily="34" charset="-122"/>
                <a:cs typeface="Calibri" pitchFamily="34" charset="-120"/>
              </a:rPr>
              <a:t>今回のテストは合成音声を</a:t>
            </a:r>
            <a:r>
              <a:rPr lang="ja-JP" altLang="en-US" sz="1400" dirty="0">
                <a:solidFill>
                  <a:srgbClr val="36454F"/>
                </a:solidFill>
                <a:latin typeface="Calibri" pitchFamily="34" charset="0"/>
                <a:ea typeface="Calibri" pitchFamily="34" charset="-122"/>
                <a:cs typeface="Calibri" pitchFamily="34" charset="-120"/>
              </a:rPr>
              <a:t>直接入力する</a:t>
            </a:r>
            <a:r>
              <a:rPr lang="en-US" sz="1400" dirty="0" err="1">
                <a:solidFill>
                  <a:srgbClr val="36454F"/>
                </a:solidFill>
                <a:latin typeface="Calibri" pitchFamily="34" charset="0"/>
                <a:ea typeface="Calibri" pitchFamily="34" charset="-122"/>
                <a:cs typeface="Calibri" pitchFamily="34" charset="-120"/>
              </a:rPr>
              <a:t>方式で、クリアな音声のみを使用</a:t>
            </a:r>
            <a:endParaRPr lang="en-US" sz="1400" dirty="0"/>
          </a:p>
          <a:p>
            <a:pPr marL="342900" indent="-342900">
              <a:lnSpc>
                <a:spcPct val="130000"/>
              </a:lnSpc>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機械音・アラーム音・複数人の同時発言がある実際の工場環境ではまだ検証していない</a:t>
            </a:r>
            <a:endParaRPr lang="en-US" sz="1400" dirty="0"/>
          </a:p>
          <a:p>
            <a:pPr marL="342900" indent="-342900">
              <a:lnSpc>
                <a:spcPct val="130000"/>
              </a:lnSpc>
              <a:buSzPct val="100000"/>
              <a:buChar char="•"/>
            </a:pPr>
            <a:r>
              <a:rPr lang="en-US" sz="1400" dirty="0">
                <a:solidFill>
                  <a:srgbClr val="36454F"/>
                </a:solidFill>
                <a:latin typeface="Calibri" pitchFamily="34" charset="0"/>
                <a:ea typeface="Calibri" pitchFamily="34" charset="-122"/>
                <a:cs typeface="Calibri" pitchFamily="34" charset="-120"/>
              </a:rPr>
              <a:t>現状は雑音除去機能(VAD)を無効化した設定になっている</a:t>
            </a:r>
            <a:endParaRPr lang="en-US" sz="1400" dirty="0"/>
          </a:p>
        </p:txBody>
      </p:sp>
      <p:sp>
        <p:nvSpPr>
          <p:cNvPr id="9" name="Shape 6"/>
          <p:cNvSpPr/>
          <p:nvPr/>
        </p:nvSpPr>
        <p:spPr>
          <a:xfrm>
            <a:off x="640080" y="5074920"/>
            <a:ext cx="10881360" cy="1234440"/>
          </a:xfrm>
          <a:prstGeom prst="rect">
            <a:avLst/>
          </a:prstGeom>
          <a:solidFill>
            <a:srgbClr val="FFF3E4"/>
          </a:solidFill>
          <a:ln w="12700">
            <a:solidFill>
              <a:srgbClr val="F0D9B5"/>
            </a:solidFill>
            <a:prstDash val="solid"/>
          </a:ln>
        </p:spPr>
        <p:txBody>
          <a:bodyPr/>
          <a:lstStyle/>
          <a:p>
            <a:endParaRPr lang="ja-JP" altLang="en-US"/>
          </a:p>
        </p:txBody>
      </p:sp>
      <p:sp>
        <p:nvSpPr>
          <p:cNvPr id="10" name="Shape 7"/>
          <p:cNvSpPr/>
          <p:nvPr/>
        </p:nvSpPr>
        <p:spPr>
          <a:xfrm>
            <a:off x="822960" y="5257800"/>
            <a:ext cx="502920" cy="502920"/>
          </a:xfrm>
          <a:prstGeom prst="ellipse">
            <a:avLst/>
          </a:prstGeom>
          <a:solidFill>
            <a:srgbClr val="C97A1E"/>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948690" y="5383530"/>
            <a:ext cx="251460" cy="251460"/>
          </a:xfrm>
          <a:prstGeom prst="rect">
            <a:avLst/>
          </a:prstGeom>
        </p:spPr>
      </p:pic>
      <p:sp>
        <p:nvSpPr>
          <p:cNvPr id="12" name="Text 8"/>
          <p:cNvSpPr/>
          <p:nvPr/>
        </p:nvSpPr>
        <p:spPr>
          <a:xfrm>
            <a:off x="1463040" y="5074920"/>
            <a:ext cx="9875520" cy="1234440"/>
          </a:xfrm>
          <a:prstGeom prst="rect">
            <a:avLst/>
          </a:prstGeom>
          <a:noFill/>
          <a:ln/>
        </p:spPr>
        <p:txBody>
          <a:bodyPr wrap="square" rtlCol="0" anchor="ctr"/>
          <a:lstStyle/>
          <a:p>
            <a:pPr marL="0" indent="0">
              <a:lnSpc>
                <a:spcPct val="125000"/>
              </a:lnSpc>
              <a:buNone/>
            </a:pPr>
            <a:r>
              <a:rPr lang="en-US" sz="1250" b="1" dirty="0">
                <a:solidFill>
                  <a:srgbClr val="8A5210"/>
                </a:solidFill>
                <a:latin typeface="Calibri" pitchFamily="34" charset="0"/>
                <a:ea typeface="Calibri" pitchFamily="34" charset="-122"/>
                <a:cs typeface="Calibri" pitchFamily="34" charset="-120"/>
              </a:rPr>
              <a:t>なぜVADを無効化しているか： </a:t>
            </a:r>
            <a:r>
              <a:rPr lang="en-US" sz="1250" b="1" dirty="0" err="1">
                <a:solidFill>
                  <a:srgbClr val="8A5210"/>
                </a:solidFill>
                <a:latin typeface="Calibri" pitchFamily="34" charset="0"/>
                <a:ea typeface="Calibri" pitchFamily="34" charset="-122"/>
                <a:cs typeface="Calibri" pitchFamily="34" charset="-120"/>
              </a:rPr>
              <a:t>この</a:t>
            </a:r>
            <a:r>
              <a:rPr lang="ja-JP" altLang="en-US" sz="1250" b="1" dirty="0">
                <a:solidFill>
                  <a:srgbClr val="8A5210"/>
                </a:solidFill>
                <a:latin typeface="Calibri" pitchFamily="34" charset="0"/>
                <a:ea typeface="Calibri" pitchFamily="34" charset="-122"/>
                <a:cs typeface="Calibri" pitchFamily="34" charset="-120"/>
              </a:rPr>
              <a:t>直接入力</a:t>
            </a:r>
            <a:r>
              <a:rPr lang="en-US" sz="1250" b="1" dirty="0" err="1">
                <a:solidFill>
                  <a:srgbClr val="8A5210"/>
                </a:solidFill>
                <a:latin typeface="Calibri" pitchFamily="34" charset="0"/>
                <a:ea typeface="Calibri" pitchFamily="34" charset="-122"/>
                <a:cs typeface="Calibri" pitchFamily="34" charset="-120"/>
              </a:rPr>
              <a:t>方式ではVADが無音と誤判定してしまう。そのため今回の検証では無効化している</a:t>
            </a:r>
            <a:r>
              <a:rPr lang="en-US" sz="1250" b="1" dirty="0">
                <a:solidFill>
                  <a:srgbClr val="8A5210"/>
                </a:solidFill>
                <a:latin typeface="Calibri" pitchFamily="34" charset="0"/>
                <a:ea typeface="Calibri" pitchFamily="34" charset="-122"/>
                <a:cs typeface="Calibri" pitchFamily="34" charset="-120"/>
              </a:rPr>
              <a:t>(実機での生録音では事情が異なる可能性がある→次ページ)。</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騒音対策の解決の方向性</a:t>
            </a:r>
            <a:endParaRPr lang="en-US" sz="3000" dirty="0"/>
          </a:p>
        </p:txBody>
      </p:sp>
      <p:sp>
        <p:nvSpPr>
          <p:cNvPr id="3" name="Text 1"/>
          <p:cNvSpPr/>
          <p:nvPr/>
        </p:nvSpPr>
        <p:spPr>
          <a:xfrm>
            <a:off x="640080" y="1097280"/>
            <a:ext cx="10698480" cy="365760"/>
          </a:xfrm>
          <a:prstGeom prst="rect">
            <a:avLst/>
          </a:prstGeom>
          <a:noFill/>
          <a:ln/>
        </p:spPr>
        <p:txBody>
          <a:bodyPr wrap="square" rtlCol="0" anchor="ctr"/>
          <a:lstStyle/>
          <a:p>
            <a:pPr marL="0" indent="0">
              <a:buNone/>
            </a:pPr>
            <a:r>
              <a:rPr lang="en-US" sz="1300" dirty="0">
                <a:solidFill>
                  <a:srgbClr val="6B7690"/>
                </a:solidFill>
                <a:latin typeface="Calibri" pitchFamily="34" charset="0"/>
                <a:ea typeface="Calibri" pitchFamily="34" charset="-122"/>
                <a:cs typeface="Calibri" pitchFamily="34" charset="-120"/>
              </a:rPr>
              <a:t>以下はいずれも今後の対応候補であり、現時点では未実施です</a:t>
            </a:r>
            <a:endParaRPr lang="en-US" sz="1300" dirty="0"/>
          </a:p>
        </p:txBody>
      </p:sp>
      <p:sp>
        <p:nvSpPr>
          <p:cNvPr id="4" name="Shape 2"/>
          <p:cNvSpPr/>
          <p:nvPr/>
        </p:nvSpPr>
        <p:spPr>
          <a:xfrm>
            <a:off x="640080" y="1645920"/>
            <a:ext cx="10881360" cy="1051560"/>
          </a:xfrm>
          <a:prstGeom prst="rect">
            <a:avLst/>
          </a:prstGeom>
          <a:solidFill>
            <a:srgbClr val="EAF3EE"/>
          </a:solidFill>
          <a:ln w="15875">
            <a:solidFill>
              <a:srgbClr val="1F9D6B"/>
            </a:solidFill>
            <a:prstDash val="solid"/>
          </a:ln>
        </p:spPr>
        <p:txBody>
          <a:bodyPr/>
          <a:lstStyle/>
          <a:p>
            <a:endParaRPr lang="ja-JP" altLang="en-US"/>
          </a:p>
        </p:txBody>
      </p:sp>
      <p:sp>
        <p:nvSpPr>
          <p:cNvPr id="5" name="Shape 3"/>
          <p:cNvSpPr/>
          <p:nvPr/>
        </p:nvSpPr>
        <p:spPr>
          <a:xfrm>
            <a:off x="868680" y="1828800"/>
            <a:ext cx="640080" cy="640080"/>
          </a:xfrm>
          <a:prstGeom prst="ellipse">
            <a:avLst/>
          </a:prstGeom>
          <a:solidFill>
            <a:srgbClr val="1F9D6B"/>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28700" y="1988820"/>
            <a:ext cx="320040" cy="320040"/>
          </a:xfrm>
          <a:prstGeom prst="rect">
            <a:avLst/>
          </a:prstGeom>
        </p:spPr>
      </p:pic>
      <p:sp>
        <p:nvSpPr>
          <p:cNvPr id="7" name="Text 4"/>
          <p:cNvSpPr/>
          <p:nvPr/>
        </p:nvSpPr>
        <p:spPr>
          <a:xfrm>
            <a:off x="1691640" y="1783080"/>
            <a:ext cx="82296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① VAD(雑音除去)を有効化して閾値を調整</a:t>
            </a:r>
            <a:endParaRPr lang="en-US" sz="1400" dirty="0"/>
          </a:p>
        </p:txBody>
      </p:sp>
      <p:sp>
        <p:nvSpPr>
          <p:cNvPr id="8" name="Text 5"/>
          <p:cNvSpPr/>
          <p:nvPr/>
        </p:nvSpPr>
        <p:spPr>
          <a:xfrm>
            <a:off x="1691640" y="2148840"/>
            <a:ext cx="8778240" cy="457200"/>
          </a:xfrm>
          <a:prstGeom prst="rect">
            <a:avLst/>
          </a:prstGeom>
          <a:noFill/>
          <a:ln/>
        </p:spPr>
        <p:txBody>
          <a:bodyPr wrap="square" rtlCol="0" anchor="ctr"/>
          <a:lstStyle/>
          <a:p>
            <a:pPr marL="0" indent="0">
              <a:buNone/>
            </a:pPr>
            <a:r>
              <a:rPr lang="en-US" sz="1200" dirty="0">
                <a:solidFill>
                  <a:srgbClr val="6B7690"/>
                </a:solidFill>
                <a:latin typeface="Calibri" pitchFamily="34" charset="0"/>
                <a:ea typeface="Calibri" pitchFamily="34" charset="-122"/>
                <a:cs typeface="Calibri" pitchFamily="34" charset="-120"/>
              </a:rPr>
              <a:t>実機での生録音(人が直接マイクに話す運用)では無音誤判定が起きにくいと見られ、着手のハードルが比較的低い候補</a:t>
            </a:r>
            <a:endParaRPr lang="en-US" sz="1200" dirty="0"/>
          </a:p>
        </p:txBody>
      </p:sp>
      <p:sp>
        <p:nvSpPr>
          <p:cNvPr id="9" name="Shape 6"/>
          <p:cNvSpPr/>
          <p:nvPr/>
        </p:nvSpPr>
        <p:spPr>
          <a:xfrm>
            <a:off x="9738360" y="1783080"/>
            <a:ext cx="1600200" cy="457200"/>
          </a:xfrm>
          <a:prstGeom prst="rect">
            <a:avLst/>
          </a:prstGeom>
          <a:solidFill>
            <a:srgbClr val="1F9D6B"/>
          </a:solidFill>
          <a:ln/>
        </p:spPr>
        <p:txBody>
          <a:bodyPr/>
          <a:lstStyle/>
          <a:p>
            <a:endParaRPr lang="ja-JP" altLang="en-US"/>
          </a:p>
        </p:txBody>
      </p:sp>
      <p:sp>
        <p:nvSpPr>
          <p:cNvPr id="10" name="Text 7"/>
          <p:cNvSpPr/>
          <p:nvPr/>
        </p:nvSpPr>
        <p:spPr>
          <a:xfrm>
            <a:off x="9723120" y="1783080"/>
            <a:ext cx="1600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優先度：高</a:t>
            </a:r>
            <a:endParaRPr lang="en-US" sz="1150" dirty="0"/>
          </a:p>
        </p:txBody>
      </p:sp>
      <p:sp>
        <p:nvSpPr>
          <p:cNvPr id="11" name="Shape 8"/>
          <p:cNvSpPr/>
          <p:nvPr/>
        </p:nvSpPr>
        <p:spPr>
          <a:xfrm>
            <a:off x="640080" y="2926080"/>
            <a:ext cx="10881360" cy="86868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2" name="Shape 9"/>
          <p:cNvSpPr/>
          <p:nvPr/>
        </p:nvSpPr>
        <p:spPr>
          <a:xfrm>
            <a:off x="868680" y="3090672"/>
            <a:ext cx="548640" cy="548640"/>
          </a:xfrm>
          <a:prstGeom prst="ellipse">
            <a:avLst/>
          </a:prstGeom>
          <a:solidFill>
            <a:srgbClr val="1E2761"/>
          </a:solidFill>
          <a:ln/>
        </p:spPr>
        <p:txBody>
          <a:bodyPr/>
          <a:lstStyle/>
          <a:p>
            <a:endParaRPr lang="ja-JP" altLang="en-US"/>
          </a:p>
        </p:txBody>
      </p:sp>
      <p:pic>
        <p:nvPicPr>
          <p:cNvPr id="13" name="Image 1" descr="preencoded.png"/>
          <p:cNvPicPr>
            <a:picLocks noChangeAspect="1"/>
          </p:cNvPicPr>
          <p:nvPr/>
        </p:nvPicPr>
        <p:blipFill>
          <a:blip r:embed="rId4"/>
          <a:stretch>
            <a:fillRect/>
          </a:stretch>
        </p:blipFill>
        <p:spPr>
          <a:xfrm>
            <a:off x="1005840" y="3227832"/>
            <a:ext cx="274320" cy="274320"/>
          </a:xfrm>
          <a:prstGeom prst="rect">
            <a:avLst/>
          </a:prstGeom>
        </p:spPr>
      </p:pic>
      <p:sp>
        <p:nvSpPr>
          <p:cNvPr id="14" name="Text 10"/>
          <p:cNvSpPr/>
          <p:nvPr/>
        </p:nvSpPr>
        <p:spPr>
          <a:xfrm>
            <a:off x="1645920" y="3017520"/>
            <a:ext cx="86868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② 指向性・ノイズキャンセリングマイクの導入検討</a:t>
            </a:r>
            <a:endParaRPr lang="en-US" sz="1350" dirty="0"/>
          </a:p>
        </p:txBody>
      </p:sp>
      <p:sp>
        <p:nvSpPr>
          <p:cNvPr id="15" name="Text 11"/>
          <p:cNvSpPr/>
          <p:nvPr/>
        </p:nvSpPr>
        <p:spPr>
          <a:xfrm>
            <a:off x="1645920" y="3383280"/>
            <a:ext cx="8686800" cy="365760"/>
          </a:xfrm>
          <a:prstGeom prst="rect">
            <a:avLst/>
          </a:prstGeom>
          <a:noFill/>
          <a:ln/>
        </p:spPr>
        <p:txBody>
          <a:bodyPr wrap="square" rtlCol="0" anchor="ctr"/>
          <a:lstStyle/>
          <a:p>
            <a:pPr marL="0" indent="0">
              <a:buNone/>
            </a:pPr>
            <a:r>
              <a:rPr lang="en-US" sz="1150" dirty="0">
                <a:solidFill>
                  <a:srgbClr val="6B7690"/>
                </a:solidFill>
                <a:latin typeface="Calibri" pitchFamily="34" charset="0"/>
                <a:ea typeface="Calibri" pitchFamily="34" charset="-122"/>
                <a:cs typeface="Calibri" pitchFamily="34" charset="-120"/>
              </a:rPr>
              <a:t>ハードウェア面での雑音低減</a:t>
            </a:r>
            <a:endParaRPr lang="en-US" sz="1150" dirty="0"/>
          </a:p>
        </p:txBody>
      </p:sp>
      <p:sp>
        <p:nvSpPr>
          <p:cNvPr id="16" name="Shape 12"/>
          <p:cNvSpPr/>
          <p:nvPr/>
        </p:nvSpPr>
        <p:spPr>
          <a:xfrm>
            <a:off x="640080" y="3977640"/>
            <a:ext cx="10881360" cy="86868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7" name="Shape 13"/>
          <p:cNvSpPr/>
          <p:nvPr/>
        </p:nvSpPr>
        <p:spPr>
          <a:xfrm>
            <a:off x="868680" y="4142232"/>
            <a:ext cx="548640" cy="548640"/>
          </a:xfrm>
          <a:prstGeom prst="ellipse">
            <a:avLst/>
          </a:prstGeom>
          <a:solidFill>
            <a:srgbClr val="1E2761"/>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1005840" y="4279392"/>
            <a:ext cx="274320" cy="274320"/>
          </a:xfrm>
          <a:prstGeom prst="rect">
            <a:avLst/>
          </a:prstGeom>
        </p:spPr>
      </p:pic>
      <p:sp>
        <p:nvSpPr>
          <p:cNvPr id="19" name="Text 14"/>
          <p:cNvSpPr/>
          <p:nvPr/>
        </p:nvSpPr>
        <p:spPr>
          <a:xfrm>
            <a:off x="1645920" y="4069080"/>
            <a:ext cx="86868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③ 音声の前処理によるノイズ低減フィルタの追加</a:t>
            </a:r>
            <a:endParaRPr lang="en-US" sz="1350" dirty="0"/>
          </a:p>
        </p:txBody>
      </p:sp>
      <p:sp>
        <p:nvSpPr>
          <p:cNvPr id="20" name="Text 15"/>
          <p:cNvSpPr/>
          <p:nvPr/>
        </p:nvSpPr>
        <p:spPr>
          <a:xfrm>
            <a:off x="1645920" y="4434840"/>
            <a:ext cx="8686800" cy="365760"/>
          </a:xfrm>
          <a:prstGeom prst="rect">
            <a:avLst/>
          </a:prstGeom>
          <a:noFill/>
          <a:ln/>
        </p:spPr>
        <p:txBody>
          <a:bodyPr wrap="square" rtlCol="0" anchor="ctr"/>
          <a:lstStyle/>
          <a:p>
            <a:pPr marL="0" indent="0">
              <a:buNone/>
            </a:pPr>
            <a:r>
              <a:rPr lang="en-US" sz="1150" dirty="0">
                <a:solidFill>
                  <a:srgbClr val="6B7690"/>
                </a:solidFill>
                <a:latin typeface="Calibri" pitchFamily="34" charset="0"/>
                <a:ea typeface="Calibri" pitchFamily="34" charset="-122"/>
                <a:cs typeface="Calibri" pitchFamily="34" charset="-120"/>
              </a:rPr>
              <a:t>文字起こし前段での信号処理による対策</a:t>
            </a:r>
            <a:endParaRPr lang="en-US" sz="1150" dirty="0"/>
          </a:p>
        </p:txBody>
      </p:sp>
      <p:sp>
        <p:nvSpPr>
          <p:cNvPr id="21" name="Shape 16"/>
          <p:cNvSpPr/>
          <p:nvPr/>
        </p:nvSpPr>
        <p:spPr>
          <a:xfrm>
            <a:off x="640080" y="5029200"/>
            <a:ext cx="10881360" cy="86868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22" name="Shape 17"/>
          <p:cNvSpPr/>
          <p:nvPr/>
        </p:nvSpPr>
        <p:spPr>
          <a:xfrm>
            <a:off x="868680" y="5193792"/>
            <a:ext cx="548640" cy="548640"/>
          </a:xfrm>
          <a:prstGeom prst="ellipse">
            <a:avLst/>
          </a:prstGeom>
          <a:solidFill>
            <a:srgbClr val="1E2761"/>
          </a:solidFill>
          <a:ln/>
        </p:spPr>
        <p:txBody>
          <a:bodyPr/>
          <a:lstStyle/>
          <a:p>
            <a:endParaRPr lang="ja-JP" altLang="en-US"/>
          </a:p>
        </p:txBody>
      </p:sp>
      <p:pic>
        <p:nvPicPr>
          <p:cNvPr id="23" name="Image 3" descr="preencoded.png"/>
          <p:cNvPicPr>
            <a:picLocks noChangeAspect="1"/>
          </p:cNvPicPr>
          <p:nvPr/>
        </p:nvPicPr>
        <p:blipFill>
          <a:blip r:embed="rId6"/>
          <a:stretch>
            <a:fillRect/>
          </a:stretch>
        </p:blipFill>
        <p:spPr>
          <a:xfrm>
            <a:off x="1005840" y="5330952"/>
            <a:ext cx="274320" cy="274320"/>
          </a:xfrm>
          <a:prstGeom prst="rect">
            <a:avLst/>
          </a:prstGeom>
        </p:spPr>
      </p:pic>
      <p:sp>
        <p:nvSpPr>
          <p:cNvPr id="24" name="Text 18"/>
          <p:cNvSpPr/>
          <p:nvPr/>
        </p:nvSpPr>
        <p:spPr>
          <a:xfrm>
            <a:off x="1645920" y="5120640"/>
            <a:ext cx="86868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④ 実際の工場音声を収録しての再検証</a:t>
            </a:r>
            <a:endParaRPr lang="en-US" sz="1350" dirty="0"/>
          </a:p>
        </p:txBody>
      </p:sp>
      <p:sp>
        <p:nvSpPr>
          <p:cNvPr id="25" name="Text 19"/>
          <p:cNvSpPr/>
          <p:nvPr/>
        </p:nvSpPr>
        <p:spPr>
          <a:xfrm>
            <a:off x="1645920" y="5486400"/>
            <a:ext cx="8686800" cy="365760"/>
          </a:xfrm>
          <a:prstGeom prst="rect">
            <a:avLst/>
          </a:prstGeom>
          <a:noFill/>
          <a:ln/>
        </p:spPr>
        <p:txBody>
          <a:bodyPr wrap="square" rtlCol="0" anchor="ctr"/>
          <a:lstStyle/>
          <a:p>
            <a:pPr marL="0" indent="0">
              <a:buNone/>
            </a:pPr>
            <a:r>
              <a:rPr lang="en-US" sz="1150" dirty="0">
                <a:solidFill>
                  <a:srgbClr val="6B7690"/>
                </a:solidFill>
                <a:latin typeface="Calibri" pitchFamily="34" charset="0"/>
                <a:ea typeface="Calibri" pitchFamily="34" charset="-122"/>
                <a:cs typeface="Calibri" pitchFamily="34" charset="-120"/>
              </a:rPr>
              <a:t>実環境での精度を直接確認する</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その他の残課題</a:t>
            </a:r>
            <a:endParaRPr lang="en-US" sz="3000" dirty="0"/>
          </a:p>
        </p:txBody>
      </p:sp>
      <p:sp>
        <p:nvSpPr>
          <p:cNvPr id="3" name="Shape 1"/>
          <p:cNvSpPr/>
          <p:nvPr/>
        </p:nvSpPr>
        <p:spPr>
          <a:xfrm>
            <a:off x="640080" y="1645920"/>
            <a:ext cx="10881360" cy="12344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4" name="Shape 2"/>
          <p:cNvSpPr/>
          <p:nvPr/>
        </p:nvSpPr>
        <p:spPr>
          <a:xfrm>
            <a:off x="914400" y="1965960"/>
            <a:ext cx="594360" cy="594360"/>
          </a:xfrm>
          <a:prstGeom prst="ellipse">
            <a:avLst/>
          </a:prstGeom>
          <a:solidFill>
            <a:srgbClr val="1E2761"/>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062990" y="2114550"/>
            <a:ext cx="297180" cy="297180"/>
          </a:xfrm>
          <a:prstGeom prst="rect">
            <a:avLst/>
          </a:prstGeom>
        </p:spPr>
      </p:pic>
      <p:sp>
        <p:nvSpPr>
          <p:cNvPr id="6" name="Text 3"/>
          <p:cNvSpPr/>
          <p:nvPr/>
        </p:nvSpPr>
        <p:spPr>
          <a:xfrm>
            <a:off x="1691640" y="1828800"/>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BTマイク1名装着による話者判定の限界</a:t>
            </a:r>
            <a:endParaRPr lang="en-US" sz="1500" dirty="0"/>
          </a:p>
        </p:txBody>
      </p:sp>
      <p:sp>
        <p:nvSpPr>
          <p:cNvPr id="7" name="Text 4"/>
          <p:cNvSpPr/>
          <p:nvPr/>
        </p:nvSpPr>
        <p:spPr>
          <a:xfrm>
            <a:off x="1691640" y="2267712"/>
            <a:ext cx="9601200" cy="548640"/>
          </a:xfrm>
          <a:prstGeom prst="rect">
            <a:avLst/>
          </a:prstGeom>
          <a:noFill/>
          <a:ln/>
        </p:spPr>
        <p:txBody>
          <a:bodyPr wrap="square" rtlCol="0" anchor="ctr"/>
          <a:lstStyle/>
          <a:p>
            <a:pPr marL="0" indent="0">
              <a:lnSpc>
                <a:spcPct val="120000"/>
              </a:lnSpc>
              <a:buNone/>
            </a:pPr>
            <a:r>
              <a:rPr lang="en-US" sz="1200" dirty="0">
                <a:solidFill>
                  <a:srgbClr val="6B7690"/>
                </a:solidFill>
                <a:latin typeface="Calibri" pitchFamily="34" charset="0"/>
                <a:ea typeface="Calibri" pitchFamily="34" charset="-122"/>
                <a:cs typeface="Calibri" pitchFamily="34" charset="-120"/>
              </a:rPr>
              <a:t>自社側で装着していない発話者は相手方と誤判定されうる(話者判定精度60.4%の一因、P.7参照)</a:t>
            </a:r>
            <a:endParaRPr lang="en-US" sz="1200" dirty="0"/>
          </a:p>
        </p:txBody>
      </p:sp>
      <p:sp>
        <p:nvSpPr>
          <p:cNvPr id="8" name="Shape 5"/>
          <p:cNvSpPr/>
          <p:nvPr/>
        </p:nvSpPr>
        <p:spPr>
          <a:xfrm>
            <a:off x="640080" y="3063240"/>
            <a:ext cx="10881360" cy="12344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9" name="Shape 6"/>
          <p:cNvSpPr/>
          <p:nvPr/>
        </p:nvSpPr>
        <p:spPr>
          <a:xfrm>
            <a:off x="914400" y="3383280"/>
            <a:ext cx="594360" cy="594360"/>
          </a:xfrm>
          <a:prstGeom prst="ellipse">
            <a:avLst/>
          </a:prstGeom>
          <a:solidFill>
            <a:srgbClr val="1E2761"/>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1062990" y="3531870"/>
            <a:ext cx="297180" cy="297180"/>
          </a:xfrm>
          <a:prstGeom prst="rect">
            <a:avLst/>
          </a:prstGeom>
        </p:spPr>
      </p:pic>
      <p:sp>
        <p:nvSpPr>
          <p:cNvPr id="11" name="Text 7"/>
          <p:cNvSpPr/>
          <p:nvPr/>
        </p:nvSpPr>
        <p:spPr>
          <a:xfrm>
            <a:off x="1691640" y="3246120"/>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5秒区切りによる文字起こし誤差</a:t>
            </a:r>
            <a:endParaRPr lang="en-US" sz="1500" dirty="0"/>
          </a:p>
        </p:txBody>
      </p:sp>
      <p:sp>
        <p:nvSpPr>
          <p:cNvPr id="12" name="Text 8"/>
          <p:cNvSpPr/>
          <p:nvPr/>
        </p:nvSpPr>
        <p:spPr>
          <a:xfrm>
            <a:off x="1691640" y="3685032"/>
            <a:ext cx="9601200" cy="548640"/>
          </a:xfrm>
          <a:prstGeom prst="rect">
            <a:avLst/>
          </a:prstGeom>
          <a:noFill/>
          <a:ln/>
        </p:spPr>
        <p:txBody>
          <a:bodyPr wrap="square" rtlCol="0" anchor="ctr"/>
          <a:lstStyle/>
          <a:p>
            <a:pPr marL="0" indent="0">
              <a:lnSpc>
                <a:spcPct val="120000"/>
              </a:lnSpc>
              <a:buNone/>
            </a:pPr>
            <a:r>
              <a:rPr lang="en-US" sz="1200" dirty="0">
                <a:solidFill>
                  <a:srgbClr val="6B7690"/>
                </a:solidFill>
                <a:latin typeface="Calibri" pitchFamily="34" charset="0"/>
                <a:ea typeface="Calibri" pitchFamily="34" charset="-122"/>
                <a:cs typeface="Calibri" pitchFamily="34" charset="-120"/>
              </a:rPr>
              <a:t>文の途中で区切られることによる認識誤りが残る</a:t>
            </a:r>
            <a:endParaRPr lang="en-US" sz="1200" dirty="0"/>
          </a:p>
        </p:txBody>
      </p:sp>
      <p:sp>
        <p:nvSpPr>
          <p:cNvPr id="13" name="Shape 9"/>
          <p:cNvSpPr/>
          <p:nvPr/>
        </p:nvSpPr>
        <p:spPr>
          <a:xfrm>
            <a:off x="640080" y="4480560"/>
            <a:ext cx="10881360" cy="1234440"/>
          </a:xfrm>
          <a:prstGeom prst="rect">
            <a:avLst/>
          </a:prstGeom>
          <a:solidFill>
            <a:srgbClr val="FFFFFF"/>
          </a:solidFill>
          <a:ln w="12700">
            <a:solidFill>
              <a:srgbClr val="E1E6F2"/>
            </a:solidFill>
            <a:prstDash val="solid"/>
          </a:ln>
          <a:effectLst>
            <a:outerShdw blurRad="101600" dist="25400" dir="5400000" algn="bl" rotWithShape="0">
              <a:srgbClr val="1E2761">
                <a:alpha val="6000"/>
              </a:srgbClr>
            </a:outerShdw>
          </a:effectLst>
        </p:spPr>
        <p:txBody>
          <a:bodyPr/>
          <a:lstStyle/>
          <a:p>
            <a:endParaRPr lang="ja-JP" altLang="en-US"/>
          </a:p>
        </p:txBody>
      </p:sp>
      <p:sp>
        <p:nvSpPr>
          <p:cNvPr id="14" name="Shape 10"/>
          <p:cNvSpPr/>
          <p:nvPr/>
        </p:nvSpPr>
        <p:spPr>
          <a:xfrm>
            <a:off x="914400" y="4800600"/>
            <a:ext cx="594360" cy="594360"/>
          </a:xfrm>
          <a:prstGeom prst="ellipse">
            <a:avLst/>
          </a:prstGeom>
          <a:solidFill>
            <a:srgbClr val="1E2761"/>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1062990" y="4949190"/>
            <a:ext cx="297180" cy="297180"/>
          </a:xfrm>
          <a:prstGeom prst="rect">
            <a:avLst/>
          </a:prstGeom>
        </p:spPr>
      </p:pic>
      <p:sp>
        <p:nvSpPr>
          <p:cNvPr id="16" name="Text 11"/>
          <p:cNvSpPr/>
          <p:nvPr/>
        </p:nvSpPr>
        <p:spPr>
          <a:xfrm>
            <a:off x="1691640" y="4663440"/>
            <a:ext cx="960120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依存ライブラリ経由の外部通信の是正</a:t>
            </a:r>
            <a:endParaRPr lang="en-US" sz="1500" dirty="0"/>
          </a:p>
        </p:txBody>
      </p:sp>
      <p:sp>
        <p:nvSpPr>
          <p:cNvPr id="17" name="Text 12"/>
          <p:cNvSpPr/>
          <p:nvPr/>
        </p:nvSpPr>
        <p:spPr>
          <a:xfrm>
            <a:off x="1691640" y="5102352"/>
            <a:ext cx="9601200" cy="548640"/>
          </a:xfrm>
          <a:prstGeom prst="rect">
            <a:avLst/>
          </a:prstGeom>
          <a:noFill/>
          <a:ln/>
        </p:spPr>
        <p:txBody>
          <a:bodyPr wrap="square" rtlCol="0" anchor="ctr"/>
          <a:lstStyle/>
          <a:p>
            <a:pPr marL="0" indent="0">
              <a:lnSpc>
                <a:spcPct val="120000"/>
              </a:lnSpc>
              <a:buNone/>
            </a:pPr>
            <a:r>
              <a:rPr lang="en-US" sz="1200" dirty="0">
                <a:solidFill>
                  <a:srgbClr val="6B7690"/>
                </a:solidFill>
                <a:latin typeface="Calibri" pitchFamily="34" charset="0"/>
                <a:ea typeface="Calibri" pitchFamily="34" charset="-122"/>
                <a:cs typeface="Calibri" pitchFamily="34" charset="-120"/>
              </a:rPr>
              <a:t>AI関連ライブラリが行う軽微な外部通信を完全に遮断する設定を追加(設定1行で対応可能、P.2の記載と対応)</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想定リスク：長時間試験でのAI処理能力の制約</a:t>
            </a:r>
            <a:endParaRPr lang="en-US" sz="3000" dirty="0"/>
          </a:p>
        </p:txBody>
      </p:sp>
      <p:sp>
        <p:nvSpPr>
          <p:cNvPr id="3" name="Shape 1"/>
          <p:cNvSpPr/>
          <p:nvPr/>
        </p:nvSpPr>
        <p:spPr>
          <a:xfrm>
            <a:off x="640080" y="1417320"/>
            <a:ext cx="10881360" cy="1051560"/>
          </a:xfrm>
          <a:prstGeom prst="rect">
            <a:avLst/>
          </a:prstGeom>
          <a:solidFill>
            <a:srgbClr val="1E2761"/>
          </a:solidFill>
          <a:ln/>
        </p:spPr>
        <p:txBody>
          <a:bodyPr/>
          <a:lstStyle/>
          <a:p>
            <a:endParaRPr lang="ja-JP" altLang="en-US"/>
          </a:p>
        </p:txBody>
      </p:sp>
      <p:sp>
        <p:nvSpPr>
          <p:cNvPr id="4" name="Shape 2"/>
          <p:cNvSpPr/>
          <p:nvPr/>
        </p:nvSpPr>
        <p:spPr>
          <a:xfrm>
            <a:off x="914400" y="1645920"/>
            <a:ext cx="594360" cy="594360"/>
          </a:xfrm>
          <a:prstGeom prst="ellipse">
            <a:avLst/>
          </a:prstGeom>
          <a:solidFill>
            <a:srgbClr val="324391"/>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062990" y="1794510"/>
            <a:ext cx="297180" cy="297180"/>
          </a:xfrm>
          <a:prstGeom prst="rect">
            <a:avLst/>
          </a:prstGeom>
        </p:spPr>
      </p:pic>
      <p:sp>
        <p:nvSpPr>
          <p:cNvPr id="6" name="Text 3"/>
          <p:cNvSpPr/>
          <p:nvPr/>
        </p:nvSpPr>
        <p:spPr>
          <a:xfrm>
            <a:off x="1691640" y="1417320"/>
            <a:ext cx="9509760" cy="10515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試験時間が長くなるほど、AIが一度に処理する情報量が増え、要約の精度に影響する可能性があります</a:t>
            </a:r>
            <a:endParaRPr lang="en-US" sz="1400" dirty="0"/>
          </a:p>
        </p:txBody>
      </p:sp>
      <p:sp>
        <p:nvSpPr>
          <p:cNvPr id="7" name="Text 4"/>
          <p:cNvSpPr/>
          <p:nvPr/>
        </p:nvSpPr>
        <p:spPr>
          <a:xfrm>
            <a:off x="640080" y="2743200"/>
            <a:ext cx="73152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背景(未検証・理論上のリスク)</a:t>
            </a:r>
            <a:endParaRPr lang="en-US" sz="1400" dirty="0"/>
          </a:p>
        </p:txBody>
      </p:sp>
      <p:sp>
        <p:nvSpPr>
          <p:cNvPr id="8" name="Text 5"/>
          <p:cNvSpPr/>
          <p:nvPr/>
        </p:nvSpPr>
        <p:spPr>
          <a:xfrm>
            <a:off x="640080" y="3108960"/>
            <a:ext cx="10607040" cy="1463040"/>
          </a:xfrm>
          <a:prstGeom prst="rect">
            <a:avLst/>
          </a:prstGeom>
          <a:noFill/>
          <a:ln/>
        </p:spPr>
        <p:txBody>
          <a:bodyPr wrap="square" rtlCol="0" anchor="ctr"/>
          <a:lstStyle/>
          <a:p>
            <a:pPr marL="342900" indent="-342900">
              <a:lnSpc>
                <a:spcPct val="130000"/>
              </a:lnSpc>
              <a:spcAft>
                <a:spcPts val="1000"/>
              </a:spcAft>
              <a:buSzPct val="100000"/>
              <a:buChar char="•"/>
            </a:pPr>
            <a:r>
              <a:rPr lang="en-US" sz="1350" dirty="0">
                <a:solidFill>
                  <a:srgbClr val="36454F"/>
                </a:solidFill>
                <a:latin typeface="Calibri" pitchFamily="34" charset="0"/>
                <a:ea typeface="Calibri" pitchFamily="34" charset="-122"/>
                <a:cs typeface="Calibri" pitchFamily="34" charset="-120"/>
              </a:rPr>
              <a:t>議事録生成の最終段階(Stage2)では、全区間の要点を1回のAI呼び出しにまとめて渡して統合している</a:t>
            </a:r>
            <a:endParaRPr lang="en-US" sz="1350" dirty="0"/>
          </a:p>
          <a:p>
            <a:pPr marL="342900" indent="-342900">
              <a:lnSpc>
                <a:spcPct val="130000"/>
              </a:lnSpc>
              <a:spcAft>
                <a:spcPts val="1000"/>
              </a:spcAft>
              <a:buSzPct val="100000"/>
              <a:buChar char="•"/>
            </a:pPr>
            <a:r>
              <a:rPr lang="en-US" sz="1350" dirty="0">
                <a:solidFill>
                  <a:srgbClr val="36454F"/>
                </a:solidFill>
                <a:latin typeface="Calibri" pitchFamily="34" charset="0"/>
                <a:ea typeface="Calibri" pitchFamily="34" charset="-122"/>
                <a:cs typeface="Calibri" pitchFamily="34" charset="-120"/>
              </a:rPr>
              <a:t>現状はAIの処理可能な情報量(コンテキストウィンドウ)を試験時間に応じて拡張する設定を行っていない</a:t>
            </a:r>
            <a:endParaRPr lang="en-US" sz="1350" dirty="0"/>
          </a:p>
          <a:p>
            <a:pPr marL="342900" indent="-342900">
              <a:lnSpc>
                <a:spcPct val="130000"/>
              </a:lnSpc>
              <a:buSzPct val="100000"/>
              <a:buChar char="•"/>
            </a:pPr>
            <a:r>
              <a:rPr lang="en-US" sz="1350" dirty="0">
                <a:solidFill>
                  <a:srgbClr val="36454F"/>
                </a:solidFill>
                <a:latin typeface="Calibri" pitchFamily="34" charset="0"/>
                <a:ea typeface="Calibri" pitchFamily="34" charset="-122"/>
                <a:cs typeface="Calibri" pitchFamily="34" charset="-120"/>
              </a:rPr>
              <a:t>今回の検証は約9分間の音声のみで、数時間規模の長時間試験ではまだ検証していない</a:t>
            </a:r>
            <a:endParaRPr lang="en-US" sz="1350" dirty="0"/>
          </a:p>
        </p:txBody>
      </p:sp>
      <p:sp>
        <p:nvSpPr>
          <p:cNvPr id="9" name="Shape 6"/>
          <p:cNvSpPr/>
          <p:nvPr/>
        </p:nvSpPr>
        <p:spPr>
          <a:xfrm>
            <a:off x="640080" y="4709160"/>
            <a:ext cx="5257800" cy="1051560"/>
          </a:xfrm>
          <a:prstGeom prst="rect">
            <a:avLst/>
          </a:prstGeom>
          <a:solidFill>
            <a:srgbClr val="FFFFFF"/>
          </a:solidFill>
          <a:ln w="12700">
            <a:solidFill>
              <a:srgbClr val="E1E6F2"/>
            </a:solidFill>
            <a:prstDash val="solid"/>
          </a:ln>
        </p:spPr>
        <p:txBody>
          <a:bodyPr/>
          <a:lstStyle/>
          <a:p>
            <a:endParaRPr lang="ja-JP" altLang="en-US"/>
          </a:p>
        </p:txBody>
      </p:sp>
      <p:sp>
        <p:nvSpPr>
          <p:cNvPr id="10" name="Text 7"/>
          <p:cNvSpPr/>
          <p:nvPr/>
        </p:nvSpPr>
        <p:spPr>
          <a:xfrm>
            <a:off x="868680" y="4846320"/>
            <a:ext cx="4800600" cy="320040"/>
          </a:xfrm>
          <a:prstGeom prst="rect">
            <a:avLst/>
          </a:prstGeom>
          <a:noFill/>
          <a:ln/>
        </p:spPr>
        <p:txBody>
          <a:bodyPr wrap="square" rtlCol="0" anchor="ctr"/>
          <a:lstStyle/>
          <a:p>
            <a:pPr marL="0" indent="0">
              <a:buNone/>
            </a:pPr>
            <a:r>
              <a:rPr lang="en-US" sz="1150" b="1" dirty="0">
                <a:solidFill>
                  <a:srgbClr val="6B7690"/>
                </a:solidFill>
                <a:latin typeface="Calibri" pitchFamily="34" charset="0"/>
                <a:ea typeface="Calibri" pitchFamily="34" charset="-122"/>
                <a:cs typeface="Calibri" pitchFamily="34" charset="-120"/>
              </a:rPr>
              <a:t>今回の検証(約9分)</a:t>
            </a:r>
            <a:endParaRPr lang="en-US" sz="1150" dirty="0"/>
          </a:p>
        </p:txBody>
      </p:sp>
      <p:sp>
        <p:nvSpPr>
          <p:cNvPr id="11" name="Text 8"/>
          <p:cNvSpPr/>
          <p:nvPr/>
        </p:nvSpPr>
        <p:spPr>
          <a:xfrm>
            <a:off x="868680" y="5166360"/>
            <a:ext cx="4800600" cy="457200"/>
          </a:xfrm>
          <a:prstGeom prst="rect">
            <a:avLst/>
          </a:prstGeom>
          <a:noFill/>
          <a:ln/>
        </p:spPr>
        <p:txBody>
          <a:bodyPr wrap="square" rtlCol="0" anchor="ctr"/>
          <a:lstStyle/>
          <a:p>
            <a:pPr marL="0" indent="0">
              <a:buNone/>
            </a:pPr>
            <a:r>
              <a:rPr lang="en-US" sz="1600" b="1" dirty="0">
                <a:solidFill>
                  <a:srgbClr val="1F9D6B"/>
                </a:solidFill>
                <a:latin typeface="Calibri" pitchFamily="34" charset="0"/>
                <a:ea typeface="Calibri" pitchFamily="34" charset="-122"/>
                <a:cs typeface="Calibri" pitchFamily="34" charset="-120"/>
              </a:rPr>
              <a:t>要点抽出は3チャンク程度</a:t>
            </a:r>
            <a:endParaRPr lang="en-US" sz="1600" dirty="0"/>
          </a:p>
        </p:txBody>
      </p:sp>
      <p:sp>
        <p:nvSpPr>
          <p:cNvPr id="12" name="Shape 9"/>
          <p:cNvSpPr/>
          <p:nvPr/>
        </p:nvSpPr>
        <p:spPr>
          <a:xfrm>
            <a:off x="6263640" y="4709160"/>
            <a:ext cx="5257800" cy="1051560"/>
          </a:xfrm>
          <a:prstGeom prst="rect">
            <a:avLst/>
          </a:prstGeom>
          <a:solidFill>
            <a:srgbClr val="FFF3E4"/>
          </a:solidFill>
          <a:ln w="12700">
            <a:solidFill>
              <a:srgbClr val="F0D9B5"/>
            </a:solidFill>
            <a:prstDash val="solid"/>
          </a:ln>
        </p:spPr>
        <p:txBody>
          <a:bodyPr/>
          <a:lstStyle/>
          <a:p>
            <a:endParaRPr lang="ja-JP" altLang="en-US"/>
          </a:p>
        </p:txBody>
      </p:sp>
      <p:sp>
        <p:nvSpPr>
          <p:cNvPr id="13" name="Text 10"/>
          <p:cNvSpPr/>
          <p:nvPr/>
        </p:nvSpPr>
        <p:spPr>
          <a:xfrm>
            <a:off x="6492240" y="4846320"/>
            <a:ext cx="4800600" cy="320040"/>
          </a:xfrm>
          <a:prstGeom prst="rect">
            <a:avLst/>
          </a:prstGeom>
          <a:noFill/>
          <a:ln/>
        </p:spPr>
        <p:txBody>
          <a:bodyPr wrap="square" rtlCol="0" anchor="ctr"/>
          <a:lstStyle/>
          <a:p>
            <a:pPr marL="0" indent="0">
              <a:buNone/>
            </a:pPr>
            <a:r>
              <a:rPr lang="en-US" sz="1150" b="1" dirty="0">
                <a:solidFill>
                  <a:srgbClr val="8A5210"/>
                </a:solidFill>
                <a:latin typeface="Calibri" pitchFamily="34" charset="0"/>
                <a:ea typeface="Calibri" pitchFamily="34" charset="-122"/>
                <a:cs typeface="Calibri" pitchFamily="34" charset="-120"/>
              </a:rPr>
              <a:t>長時間試験(例：数時間規模)</a:t>
            </a:r>
            <a:endParaRPr lang="en-US" sz="1150" dirty="0"/>
          </a:p>
        </p:txBody>
      </p:sp>
      <p:sp>
        <p:nvSpPr>
          <p:cNvPr id="14" name="Text 11"/>
          <p:cNvSpPr/>
          <p:nvPr/>
        </p:nvSpPr>
        <p:spPr>
          <a:xfrm>
            <a:off x="6492240" y="5166360"/>
            <a:ext cx="4800600" cy="457200"/>
          </a:xfrm>
          <a:prstGeom prst="rect">
            <a:avLst/>
          </a:prstGeom>
          <a:noFill/>
          <a:ln/>
        </p:spPr>
        <p:txBody>
          <a:bodyPr wrap="square" rtlCol="0" anchor="ctr"/>
          <a:lstStyle/>
          <a:p>
            <a:pPr marL="0" indent="0">
              <a:buNone/>
            </a:pPr>
            <a:r>
              <a:rPr lang="en-US" sz="1600" b="1" dirty="0">
                <a:solidFill>
                  <a:srgbClr val="C97A1E"/>
                </a:solidFill>
                <a:latin typeface="Calibri" pitchFamily="34" charset="0"/>
                <a:ea typeface="Calibri" pitchFamily="34" charset="-122"/>
                <a:cs typeface="Calibri" pitchFamily="34" charset="-120"/>
              </a:rPr>
              <a:t>要点抽出が数十チャンク規模に増加</a:t>
            </a:r>
            <a:endParaRPr lang="en-US" sz="1600" dirty="0"/>
          </a:p>
        </p:txBody>
      </p:sp>
      <p:sp>
        <p:nvSpPr>
          <p:cNvPr id="15" name="Text 12"/>
          <p:cNvSpPr/>
          <p:nvPr/>
        </p:nvSpPr>
        <p:spPr>
          <a:xfrm>
            <a:off x="640080" y="5897880"/>
            <a:ext cx="10881360" cy="777240"/>
          </a:xfrm>
          <a:prstGeom prst="rect">
            <a:avLst/>
          </a:prstGeom>
          <a:noFill/>
          <a:ln/>
        </p:spPr>
        <p:txBody>
          <a:bodyPr wrap="square" rtlCol="0" anchor="ctr"/>
          <a:lstStyle/>
          <a:p>
            <a:pPr marL="0" indent="0">
              <a:lnSpc>
                <a:spcPct val="120000"/>
              </a:lnSpc>
              <a:buNone/>
            </a:pPr>
            <a:r>
              <a:rPr lang="en-US" sz="1200" i="1" dirty="0">
                <a:solidFill>
                  <a:srgbClr val="6B7690"/>
                </a:solidFill>
                <a:latin typeface="Calibri" pitchFamily="34" charset="0"/>
                <a:ea typeface="Calibri" pitchFamily="34" charset="-122"/>
                <a:cs typeface="Calibri" pitchFamily="34" charset="-120"/>
              </a:rPr>
              <a:t>→ 対応の方向性： ①コンテキストウィンドウ(num_ctx)を試験想定時間に応じて拡張　②要点の統合を階層化し1回あたりの情報量を一定に保つ</a:t>
            </a:r>
            <a:endParaRPr lang="en-US" sz="1200" dirty="0"/>
          </a:p>
          <a:p>
            <a:pPr marL="0" indent="0">
              <a:lnSpc>
                <a:spcPct val="120000"/>
              </a:lnSpc>
              <a:buNone/>
            </a:pPr>
            <a:r>
              <a:rPr lang="en-US" sz="1200" i="1" dirty="0">
                <a:solidFill>
                  <a:srgbClr val="6B7690"/>
                </a:solidFill>
                <a:latin typeface="Calibri" pitchFamily="34" charset="0"/>
                <a:ea typeface="Calibri" pitchFamily="34" charset="-122"/>
                <a:cs typeface="Calibri" pitchFamily="34" charset="-120"/>
              </a:rPr>
              <a:t>　③長時間シナリオでの実検証</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280160" y="4480560"/>
            <a:ext cx="3840480" cy="3840480"/>
          </a:xfrm>
          <a:prstGeom prst="ellipse">
            <a:avLst/>
          </a:prstGeom>
          <a:solidFill>
            <a:srgbClr val="263275"/>
          </a:solidFill>
          <a:ln/>
        </p:spPr>
        <p:txBody>
          <a:bodyPr/>
          <a:lstStyle/>
          <a:p>
            <a:endParaRPr lang="ja-JP" altLang="en-US"/>
          </a:p>
        </p:txBody>
      </p:sp>
      <p:sp>
        <p:nvSpPr>
          <p:cNvPr id="3" name="Shape 1"/>
          <p:cNvSpPr/>
          <p:nvPr/>
        </p:nvSpPr>
        <p:spPr>
          <a:xfrm>
            <a:off x="822960" y="731520"/>
            <a:ext cx="822960" cy="822960"/>
          </a:xfrm>
          <a:prstGeom prst="ellipse">
            <a:avLst/>
          </a:prstGeom>
          <a:solidFill>
            <a:srgbClr val="324391"/>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1028700" y="937260"/>
            <a:ext cx="411480" cy="411480"/>
          </a:xfrm>
          <a:prstGeom prst="rect">
            <a:avLst/>
          </a:prstGeom>
        </p:spPr>
      </p:pic>
      <p:sp>
        <p:nvSpPr>
          <p:cNvPr id="5" name="Text 2"/>
          <p:cNvSpPr/>
          <p:nvPr/>
        </p:nvSpPr>
        <p:spPr>
          <a:xfrm>
            <a:off x="777240" y="1783080"/>
            <a:ext cx="7315200" cy="82296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まとめ</a:t>
            </a:r>
            <a:endParaRPr lang="en-US" sz="3400" dirty="0"/>
          </a:p>
        </p:txBody>
      </p:sp>
      <p:sp>
        <p:nvSpPr>
          <p:cNvPr id="6" name="Text 3"/>
          <p:cNvSpPr/>
          <p:nvPr/>
        </p:nvSpPr>
        <p:spPr>
          <a:xfrm>
            <a:off x="822960" y="2743200"/>
            <a:ext cx="10241280" cy="3017520"/>
          </a:xfrm>
          <a:prstGeom prst="rect">
            <a:avLst/>
          </a:prstGeom>
          <a:noFill/>
          <a:ln/>
        </p:spPr>
        <p:txBody>
          <a:bodyPr wrap="square" rtlCol="0" anchor="ctr"/>
          <a:lstStyle/>
          <a:p>
            <a:pPr marL="342900" indent="-342900">
              <a:lnSpc>
                <a:spcPct val="135000"/>
              </a:lnSpc>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録音するだけで、試験終了直後に議事録の下書きができあがる仕組みです</a:t>
            </a:r>
            <a:endParaRPr lang="en-US" sz="1600" dirty="0"/>
          </a:p>
          <a:p>
            <a:pPr marL="342900" indent="-342900">
              <a:lnSpc>
                <a:spcPct val="135000"/>
              </a:lnSpc>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模擬試験音声では、議事録の内容を高精度に再現できることを確認しました</a:t>
            </a:r>
            <a:endParaRPr lang="en-US" sz="1600" dirty="0"/>
          </a:p>
          <a:p>
            <a:pPr marL="342900" indent="-342900">
              <a:lnSpc>
                <a:spcPct val="135000"/>
              </a:lnSpc>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一方で、実際の工場騒音下や長時間試験での精度はまだ未検証で、次の重要な検証ステップです</a:t>
            </a:r>
            <a:endParaRPr lang="en-US" sz="1600" dirty="0"/>
          </a:p>
          <a:p>
            <a:pPr marL="342900" indent="-342900">
              <a:lnSpc>
                <a:spcPct val="135000"/>
              </a:lnSpc>
              <a:buSzPct val="100000"/>
              <a:buChar char="•"/>
            </a:pPr>
            <a:r>
              <a:rPr lang="en-US" sz="1600" dirty="0">
                <a:solidFill>
                  <a:srgbClr val="CADCFC"/>
                </a:solidFill>
                <a:latin typeface="Calibri" pitchFamily="34" charset="0"/>
                <a:ea typeface="Calibri" pitchFamily="34" charset="-122"/>
                <a:cs typeface="Calibri" pitchFamily="34" charset="-120"/>
              </a:rPr>
              <a:t>VAD調整・マイク見直し・実環境収録・長時間検証などの方向性で、引き続き改善します</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486</Words>
  <Application>Microsoft Office PowerPoint</Application>
  <PresentationFormat>ワイド画面</PresentationFormat>
  <Paragraphs>147</Paragraphs>
  <Slides>12</Slides>
  <Notes>12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Arial</vt:lpstr>
      <vt:lpstr>Calibri</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配電盤 立会試験 自動議事録生成システム ご紹介</dc:title>
  <dc:subject>PptxGenJS Presentation</dc:subject>
  <dc:creator>開発チーム</dc:creator>
  <cp:lastModifiedBy>森 匠未_沼津学生</cp:lastModifiedBy>
  <cp:revision>2</cp:revision>
  <dcterms:created xsi:type="dcterms:W3CDTF">2026-07-09T14:44:46Z</dcterms:created>
  <dcterms:modified xsi:type="dcterms:W3CDTF">2026-07-09T14:56:14Z</dcterms:modified>
</cp:coreProperties>
</file>